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1">
                <a:solidFill>
                  <a:srgbClr val="6A6A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1">
                <a:solidFill>
                  <a:srgbClr val="6A6A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A9D18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57" y="457580"/>
            <a:ext cx="7860030" cy="483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57" y="1183322"/>
            <a:ext cx="7883525" cy="331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1">
                <a:solidFill>
                  <a:srgbClr val="6A6A6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5.png"/><Relationship Id="rId9" Type="http://schemas.openxmlformats.org/officeDocument/2006/relationships/image" Target="../media/image1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813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3981450"/>
            <a:ext cx="6496050" cy="2876550"/>
            <a:chOff x="0" y="3981450"/>
            <a:chExt cx="6496050" cy="2876550"/>
          </a:xfrm>
        </p:grpSpPr>
        <p:sp>
          <p:nvSpPr>
            <p:cNvPr id="4" name="object 4"/>
            <p:cNvSpPr/>
            <p:nvPr/>
          </p:nvSpPr>
          <p:spPr>
            <a:xfrm>
              <a:off x="0" y="4210050"/>
              <a:ext cx="2381250" cy="2647950"/>
            </a:xfrm>
            <a:custGeom>
              <a:avLst/>
              <a:gdLst/>
              <a:ahLst/>
              <a:cxnLst/>
              <a:rect l="l" t="t" r="r" b="b"/>
              <a:pathLst>
                <a:path w="2381250" h="2647950">
                  <a:moveTo>
                    <a:pt x="457200" y="0"/>
                  </a:moveTo>
                  <a:lnTo>
                    <a:pt x="409039" y="589"/>
                  </a:lnTo>
                  <a:lnTo>
                    <a:pt x="361170" y="2348"/>
                  </a:lnTo>
                  <a:lnTo>
                    <a:pt x="313606" y="5264"/>
                  </a:lnTo>
                  <a:lnTo>
                    <a:pt x="266360" y="9322"/>
                  </a:lnTo>
                  <a:lnTo>
                    <a:pt x="219446" y="14508"/>
                  </a:lnTo>
                  <a:lnTo>
                    <a:pt x="172878" y="20809"/>
                  </a:lnTo>
                  <a:lnTo>
                    <a:pt x="126670" y="28212"/>
                  </a:lnTo>
                  <a:lnTo>
                    <a:pt x="80835" y="36701"/>
                  </a:lnTo>
                  <a:lnTo>
                    <a:pt x="35388" y="46265"/>
                  </a:lnTo>
                  <a:lnTo>
                    <a:pt x="0" y="54611"/>
                  </a:lnTo>
                  <a:lnTo>
                    <a:pt x="0" y="2647950"/>
                  </a:lnTo>
                  <a:lnTo>
                    <a:pt x="2237706" y="2647950"/>
                  </a:lnTo>
                  <a:lnTo>
                    <a:pt x="2238777" y="2645423"/>
                  </a:lnTo>
                  <a:lnTo>
                    <a:pt x="2255513" y="2603178"/>
                  </a:lnTo>
                  <a:lnTo>
                    <a:pt x="2271269" y="2560450"/>
                  </a:lnTo>
                  <a:lnTo>
                    <a:pt x="2286031" y="2517254"/>
                  </a:lnTo>
                  <a:lnTo>
                    <a:pt x="2299786" y="2473602"/>
                  </a:lnTo>
                  <a:lnTo>
                    <a:pt x="2312520" y="2429510"/>
                  </a:lnTo>
                  <a:lnTo>
                    <a:pt x="2324218" y="2384989"/>
                  </a:lnTo>
                  <a:lnTo>
                    <a:pt x="2334868" y="2340054"/>
                  </a:lnTo>
                  <a:lnTo>
                    <a:pt x="2344456" y="2294720"/>
                  </a:lnTo>
                  <a:lnTo>
                    <a:pt x="2352967" y="2248999"/>
                  </a:lnTo>
                  <a:lnTo>
                    <a:pt x="2360388" y="2202905"/>
                  </a:lnTo>
                  <a:lnTo>
                    <a:pt x="2366705" y="2156453"/>
                  </a:lnTo>
                  <a:lnTo>
                    <a:pt x="2371904" y="2109655"/>
                  </a:lnTo>
                  <a:lnTo>
                    <a:pt x="2375972" y="2062526"/>
                  </a:lnTo>
                  <a:lnTo>
                    <a:pt x="2378895" y="2015079"/>
                  </a:lnTo>
                  <a:lnTo>
                    <a:pt x="2380659" y="1967328"/>
                  </a:lnTo>
                  <a:lnTo>
                    <a:pt x="2381250" y="1919287"/>
                  </a:lnTo>
                  <a:lnTo>
                    <a:pt x="2380659" y="1871245"/>
                  </a:lnTo>
                  <a:lnTo>
                    <a:pt x="2378895" y="1823494"/>
                  </a:lnTo>
                  <a:lnTo>
                    <a:pt x="2375972" y="1776047"/>
                  </a:lnTo>
                  <a:lnTo>
                    <a:pt x="2371904" y="1728917"/>
                  </a:lnTo>
                  <a:lnTo>
                    <a:pt x="2366705" y="1682119"/>
                  </a:lnTo>
                  <a:lnTo>
                    <a:pt x="2360388" y="1635666"/>
                  </a:lnTo>
                  <a:lnTo>
                    <a:pt x="2352967" y="1589572"/>
                  </a:lnTo>
                  <a:lnTo>
                    <a:pt x="2344456" y="1543851"/>
                  </a:lnTo>
                  <a:lnTo>
                    <a:pt x="2334868" y="1498516"/>
                  </a:lnTo>
                  <a:lnTo>
                    <a:pt x="2324218" y="1453581"/>
                  </a:lnTo>
                  <a:lnTo>
                    <a:pt x="2312520" y="1409060"/>
                  </a:lnTo>
                  <a:lnTo>
                    <a:pt x="2299786" y="1364967"/>
                  </a:lnTo>
                  <a:lnTo>
                    <a:pt x="2286031" y="1321315"/>
                  </a:lnTo>
                  <a:lnTo>
                    <a:pt x="2271269" y="1278119"/>
                  </a:lnTo>
                  <a:lnTo>
                    <a:pt x="2255513" y="1235391"/>
                  </a:lnTo>
                  <a:lnTo>
                    <a:pt x="2238777" y="1193146"/>
                  </a:lnTo>
                  <a:lnTo>
                    <a:pt x="2221075" y="1151397"/>
                  </a:lnTo>
                  <a:lnTo>
                    <a:pt x="2202421" y="1110159"/>
                  </a:lnTo>
                  <a:lnTo>
                    <a:pt x="2182828" y="1069444"/>
                  </a:lnTo>
                  <a:lnTo>
                    <a:pt x="2162311" y="1029267"/>
                  </a:lnTo>
                  <a:lnTo>
                    <a:pt x="2140883" y="989641"/>
                  </a:lnTo>
                  <a:lnTo>
                    <a:pt x="2118557" y="950580"/>
                  </a:lnTo>
                  <a:lnTo>
                    <a:pt x="2095348" y="912099"/>
                  </a:lnTo>
                  <a:lnTo>
                    <a:pt x="2071270" y="874209"/>
                  </a:lnTo>
                  <a:lnTo>
                    <a:pt x="2046335" y="836927"/>
                  </a:lnTo>
                  <a:lnTo>
                    <a:pt x="2020559" y="800264"/>
                  </a:lnTo>
                  <a:lnTo>
                    <a:pt x="1993954" y="764235"/>
                  </a:lnTo>
                  <a:lnTo>
                    <a:pt x="1966535" y="728854"/>
                  </a:lnTo>
                  <a:lnTo>
                    <a:pt x="1938315" y="694133"/>
                  </a:lnTo>
                  <a:lnTo>
                    <a:pt x="1909308" y="660088"/>
                  </a:lnTo>
                  <a:lnTo>
                    <a:pt x="1879527" y="626732"/>
                  </a:lnTo>
                  <a:lnTo>
                    <a:pt x="1848988" y="594079"/>
                  </a:lnTo>
                  <a:lnTo>
                    <a:pt x="1817703" y="562141"/>
                  </a:lnTo>
                  <a:lnTo>
                    <a:pt x="1785686" y="530934"/>
                  </a:lnTo>
                  <a:lnTo>
                    <a:pt x="1752951" y="500470"/>
                  </a:lnTo>
                  <a:lnTo>
                    <a:pt x="1719512" y="470764"/>
                  </a:lnTo>
                  <a:lnTo>
                    <a:pt x="1685382" y="441829"/>
                  </a:lnTo>
                  <a:lnTo>
                    <a:pt x="1650576" y="413680"/>
                  </a:lnTo>
                  <a:lnTo>
                    <a:pt x="1615106" y="386329"/>
                  </a:lnTo>
                  <a:lnTo>
                    <a:pt x="1578988" y="359790"/>
                  </a:lnTo>
                  <a:lnTo>
                    <a:pt x="1542234" y="334078"/>
                  </a:lnTo>
                  <a:lnTo>
                    <a:pt x="1504858" y="309205"/>
                  </a:lnTo>
                  <a:lnTo>
                    <a:pt x="1466875" y="285187"/>
                  </a:lnTo>
                  <a:lnTo>
                    <a:pt x="1428298" y="262036"/>
                  </a:lnTo>
                  <a:lnTo>
                    <a:pt x="1389140" y="239766"/>
                  </a:lnTo>
                  <a:lnTo>
                    <a:pt x="1349416" y="218391"/>
                  </a:lnTo>
                  <a:lnTo>
                    <a:pt x="1309140" y="197925"/>
                  </a:lnTo>
                  <a:lnTo>
                    <a:pt x="1268324" y="178381"/>
                  </a:lnTo>
                  <a:lnTo>
                    <a:pt x="1226983" y="159773"/>
                  </a:lnTo>
                  <a:lnTo>
                    <a:pt x="1185131" y="142116"/>
                  </a:lnTo>
                  <a:lnTo>
                    <a:pt x="1142782" y="125422"/>
                  </a:lnTo>
                  <a:lnTo>
                    <a:pt x="1099948" y="109705"/>
                  </a:lnTo>
                  <a:lnTo>
                    <a:pt x="1056645" y="94980"/>
                  </a:lnTo>
                  <a:lnTo>
                    <a:pt x="1012885" y="81259"/>
                  </a:lnTo>
                  <a:lnTo>
                    <a:pt x="968683" y="68557"/>
                  </a:lnTo>
                  <a:lnTo>
                    <a:pt x="924052" y="56888"/>
                  </a:lnTo>
                  <a:lnTo>
                    <a:pt x="879007" y="46265"/>
                  </a:lnTo>
                  <a:lnTo>
                    <a:pt x="833560" y="36701"/>
                  </a:lnTo>
                  <a:lnTo>
                    <a:pt x="787726" y="28212"/>
                  </a:lnTo>
                  <a:lnTo>
                    <a:pt x="741518" y="20809"/>
                  </a:lnTo>
                  <a:lnTo>
                    <a:pt x="694951" y="14508"/>
                  </a:lnTo>
                  <a:lnTo>
                    <a:pt x="648037" y="9322"/>
                  </a:lnTo>
                  <a:lnTo>
                    <a:pt x="600792" y="5264"/>
                  </a:lnTo>
                  <a:lnTo>
                    <a:pt x="553228" y="2348"/>
                  </a:lnTo>
                  <a:lnTo>
                    <a:pt x="505359" y="58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DB853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8175" y="3981450"/>
              <a:ext cx="5857875" cy="2143125"/>
            </a:xfrm>
            <a:custGeom>
              <a:avLst/>
              <a:gdLst/>
              <a:ahLst/>
              <a:cxnLst/>
              <a:rect l="l" t="t" r="r" b="b"/>
              <a:pathLst>
                <a:path w="5857875" h="2143125">
                  <a:moveTo>
                    <a:pt x="5766689" y="0"/>
                  </a:moveTo>
                  <a:lnTo>
                    <a:pt x="91198" y="0"/>
                  </a:lnTo>
                  <a:lnTo>
                    <a:pt x="55699" y="7157"/>
                  </a:lnTo>
                  <a:lnTo>
                    <a:pt x="26711" y="26685"/>
                  </a:lnTo>
                  <a:lnTo>
                    <a:pt x="7166" y="55667"/>
                  </a:lnTo>
                  <a:lnTo>
                    <a:pt x="0" y="91186"/>
                  </a:lnTo>
                  <a:lnTo>
                    <a:pt x="0" y="2051926"/>
                  </a:lnTo>
                  <a:lnTo>
                    <a:pt x="7166" y="2087425"/>
                  </a:lnTo>
                  <a:lnTo>
                    <a:pt x="26711" y="2116413"/>
                  </a:lnTo>
                  <a:lnTo>
                    <a:pt x="55699" y="2135958"/>
                  </a:lnTo>
                  <a:lnTo>
                    <a:pt x="91198" y="2143125"/>
                  </a:lnTo>
                  <a:lnTo>
                    <a:pt x="5766689" y="2143125"/>
                  </a:lnTo>
                  <a:lnTo>
                    <a:pt x="5802207" y="2135958"/>
                  </a:lnTo>
                  <a:lnTo>
                    <a:pt x="5831189" y="2116413"/>
                  </a:lnTo>
                  <a:lnTo>
                    <a:pt x="5850717" y="2087425"/>
                  </a:lnTo>
                  <a:lnTo>
                    <a:pt x="5857875" y="2051926"/>
                  </a:lnTo>
                  <a:lnTo>
                    <a:pt x="5857875" y="91186"/>
                  </a:lnTo>
                  <a:lnTo>
                    <a:pt x="5850717" y="55667"/>
                  </a:lnTo>
                  <a:lnTo>
                    <a:pt x="5831189" y="26685"/>
                  </a:lnTo>
                  <a:lnTo>
                    <a:pt x="5802207" y="7157"/>
                  </a:lnTo>
                  <a:lnTo>
                    <a:pt x="5766689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628015" y="755967"/>
            <a:ext cx="401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9775" algn="l"/>
                <a:tab pos="2199640" algn="l"/>
              </a:tabLst>
            </a:pP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M</a:t>
            </a:r>
            <a:r>
              <a:rPr dirty="0" sz="1200" spc="-5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S</a:t>
            </a:r>
            <a:r>
              <a:rPr dirty="0" sz="1200" spc="-9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c</a:t>
            </a:r>
            <a:r>
              <a:rPr dirty="0" sz="1200" spc="43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N</a:t>
            </a:r>
            <a:r>
              <a:rPr dirty="0" sz="1200" spc="36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D</a:t>
            </a:r>
            <a:r>
              <a:rPr dirty="0" sz="1200" spc="-6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A</a:t>
            </a:r>
            <a:r>
              <a:rPr dirty="0" sz="1200" spc="-10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T</a:t>
            </a:r>
            <a:r>
              <a:rPr dirty="0" sz="1200" spc="-4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A</a:t>
            </a:r>
            <a:r>
              <a:rPr dirty="0" sz="1200" spc="434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S</a:t>
            </a:r>
            <a:r>
              <a:rPr dirty="0" sz="1200" spc="-9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C</a:t>
            </a:r>
            <a:r>
              <a:rPr dirty="0" sz="1200" spc="-8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E</a:t>
            </a:r>
            <a:r>
              <a:rPr dirty="0" sz="1200" spc="-11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N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 C</a:t>
            </a:r>
            <a:r>
              <a:rPr dirty="0" sz="1200" spc="-8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DB853"/>
                </a:solidFill>
                <a:latin typeface="Calibri"/>
                <a:cs typeface="Calibri"/>
              </a:rPr>
              <a:t>E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	</a:t>
            </a:r>
            <a:r>
              <a:rPr dirty="0" sz="1200" spc="-50" b="1">
                <a:solidFill>
                  <a:srgbClr val="1DB853"/>
                </a:solidFill>
                <a:latin typeface="Calibri"/>
                <a:cs typeface="Calibri"/>
              </a:rPr>
              <a:t>·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	</a:t>
            </a:r>
            <a:r>
              <a:rPr dirty="0" sz="1200" spc="65" b="1">
                <a:solidFill>
                  <a:srgbClr val="1DB853"/>
                </a:solidFill>
                <a:latin typeface="Calibri"/>
                <a:cs typeface="Calibri"/>
              </a:rPr>
              <a:t>DA</a:t>
            </a:r>
            <a:r>
              <a:rPr dirty="0" sz="1200" spc="-3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T</a:t>
            </a:r>
            <a:r>
              <a:rPr dirty="0" sz="1200" spc="-12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A</a:t>
            </a:r>
            <a:r>
              <a:rPr dirty="0" sz="1200" spc="43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V</a:t>
            </a:r>
            <a:r>
              <a:rPr dirty="0" sz="1200" spc="-8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S</a:t>
            </a:r>
            <a:r>
              <a:rPr dirty="0" sz="1200" spc="-9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U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A</a:t>
            </a:r>
            <a:r>
              <a:rPr dirty="0" sz="1200" spc="-10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L</a:t>
            </a:r>
            <a:r>
              <a:rPr dirty="0" sz="1200" spc="-11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I</a:t>
            </a:r>
            <a:r>
              <a:rPr dirty="0" sz="1200" spc="-7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Z</a:t>
            </a:r>
            <a:r>
              <a:rPr dirty="0" sz="1200" spc="-2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A</a:t>
            </a:r>
            <a:r>
              <a:rPr dirty="0" sz="1200" spc="-10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T</a:t>
            </a:r>
            <a:r>
              <a:rPr dirty="0" sz="1200" spc="-4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DB853"/>
                </a:solidFill>
                <a:latin typeface="Calibri"/>
                <a:cs typeface="Calibri"/>
              </a:rPr>
              <a:t>I</a:t>
            </a:r>
            <a:r>
              <a:rPr dirty="0" sz="1200" spc="-65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DB853"/>
                </a:solidFill>
                <a:latin typeface="Calibri"/>
                <a:cs typeface="Calibri"/>
              </a:rPr>
              <a:t>O</a:t>
            </a:r>
            <a:r>
              <a:rPr dirty="0" sz="1200" spc="-114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1DB853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81977" y="1585213"/>
            <a:ext cx="5801995" cy="13341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260"/>
              </a:lnSpc>
            </a:pPr>
            <a:r>
              <a:rPr dirty="0" sz="4200" spc="-145">
                <a:solidFill>
                  <a:srgbClr val="FFFFFF"/>
                </a:solidFill>
                <a:latin typeface="Arial Black"/>
                <a:cs typeface="Arial Black"/>
              </a:rPr>
              <a:t>Spotify</a:t>
            </a:r>
            <a:r>
              <a:rPr dirty="0" sz="4200" spc="-4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Arial Black"/>
                <a:cs typeface="Arial Black"/>
              </a:rPr>
              <a:t>Songs </a:t>
            </a:r>
            <a:r>
              <a:rPr dirty="0" sz="4200" spc="-130">
                <a:solidFill>
                  <a:srgbClr val="FFFFFF"/>
                </a:solidFill>
                <a:latin typeface="Arial Black"/>
                <a:cs typeface="Arial Black"/>
              </a:rPr>
              <a:t>Analytics</a:t>
            </a:r>
            <a:r>
              <a:rPr dirty="0" sz="4200" spc="-4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4200" spc="-40">
                <a:solidFill>
                  <a:srgbClr val="FFFFFF"/>
                </a:solidFill>
                <a:latin typeface="Arial Black"/>
                <a:cs typeface="Arial Black"/>
              </a:rPr>
              <a:t>Dashboard</a:t>
            </a:r>
            <a:endParaRPr sz="42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015" y="3387090"/>
            <a:ext cx="5942330" cy="242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An</a:t>
            </a:r>
            <a:r>
              <a:rPr dirty="0" sz="1400" spc="-10" i="1">
                <a:solidFill>
                  <a:srgbClr val="CFCFCF"/>
                </a:solidFill>
                <a:latin typeface="Calibri"/>
                <a:cs typeface="Calibri"/>
              </a:rPr>
              <a:t> interactive</a:t>
            </a:r>
            <a:r>
              <a:rPr dirty="0" sz="1400" spc="-30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Python</a:t>
            </a:r>
            <a:r>
              <a:rPr dirty="0" sz="1400" spc="-5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dashboard</a:t>
            </a:r>
            <a:r>
              <a:rPr dirty="0" sz="1400" spc="-10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for</a:t>
            </a:r>
            <a:r>
              <a:rPr dirty="0" sz="1400" spc="10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CFCFCF"/>
                </a:solidFill>
                <a:latin typeface="Calibri"/>
                <a:cs typeface="Calibri"/>
              </a:rPr>
              <a:t>exploring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song</a:t>
            </a:r>
            <a:r>
              <a:rPr dirty="0" sz="1400" spc="-5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popularity</a:t>
            </a:r>
            <a:r>
              <a:rPr dirty="0" sz="1400" spc="-60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and</a:t>
            </a:r>
            <a:r>
              <a:rPr dirty="0" sz="1400" spc="-75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i="1">
                <a:solidFill>
                  <a:srgbClr val="CFCFCF"/>
                </a:solidFill>
                <a:latin typeface="Calibri"/>
                <a:cs typeface="Calibri"/>
              </a:rPr>
              <a:t>audio</a:t>
            </a:r>
            <a:r>
              <a:rPr dirty="0" sz="1400" spc="-80" i="1">
                <a:solidFill>
                  <a:srgbClr val="CFCFCF"/>
                </a:solidFill>
                <a:latin typeface="Calibri"/>
                <a:cs typeface="Calibri"/>
              </a:rPr>
              <a:t> </a:t>
            </a:r>
            <a:r>
              <a:rPr dirty="0" sz="1400" spc="-10" i="1">
                <a:solidFill>
                  <a:srgbClr val="CFCFCF"/>
                </a:solidFill>
                <a:latin typeface="Calibri"/>
                <a:cs typeface="Calibri"/>
              </a:rPr>
              <a:t>features.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614" y="4227766"/>
            <a:ext cx="628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1DB853"/>
                </a:solidFill>
                <a:latin typeface="Calibri"/>
                <a:cs typeface="Calibri"/>
              </a:rPr>
              <a:t>PRESENTER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1258" y="4216336"/>
            <a:ext cx="108648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Pakala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Sai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Vamshi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614" y="4765420"/>
            <a:ext cx="143637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10" b="1">
                <a:solidFill>
                  <a:srgbClr val="1DB853"/>
                </a:solidFill>
                <a:latin typeface="Calibri"/>
                <a:cs typeface="Calibri"/>
              </a:rPr>
              <a:t>MATRICULATION</a:t>
            </a:r>
            <a:r>
              <a:rPr dirty="0" sz="950" spc="170" b="1">
                <a:solidFill>
                  <a:srgbClr val="1DB853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1DB853"/>
                </a:solidFill>
                <a:latin typeface="Calibri"/>
                <a:cs typeface="Calibri"/>
              </a:rPr>
              <a:t>NUMBER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1258" y="4753673"/>
            <a:ext cx="6210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69351172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614" y="5313108"/>
            <a:ext cx="5911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1DB853"/>
                </a:solidFill>
                <a:latin typeface="Calibri"/>
                <a:cs typeface="Calibri"/>
              </a:rPr>
              <a:t>PROGRAM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1258" y="5301678"/>
            <a:ext cx="12103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MSc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1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6614" y="5766117"/>
            <a:ext cx="6515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1DB853"/>
                </a:solidFill>
                <a:latin typeface="Calibri"/>
                <a:cs typeface="Calibri"/>
              </a:rPr>
              <a:t>UNIVERSITY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1258" y="5754687"/>
            <a:ext cx="27508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Europe</a:t>
            </a:r>
            <a:r>
              <a:rPr dirty="0" sz="11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1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r>
              <a:rPr dirty="0" sz="11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(UE)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6675" y="1504950"/>
            <a:ext cx="3857625" cy="3362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>
                <a:solidFill>
                  <a:srgbClr val="181313"/>
                </a:solidFill>
                <a:latin typeface="Arial Black"/>
                <a:cs typeface="Arial Black"/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6257" y="1183322"/>
            <a:ext cx="817816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Spotify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hosts</a:t>
            </a:r>
            <a:r>
              <a:rPr dirty="0" sz="1250" spc="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millions</a:t>
            </a:r>
            <a:r>
              <a:rPr dirty="0" sz="1250" spc="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of</a:t>
            </a:r>
            <a:r>
              <a:rPr dirty="0" sz="1250" spc="9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songs,</a:t>
            </a:r>
            <a:r>
              <a:rPr dirty="0" sz="1250" spc="1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making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music</a:t>
            </a:r>
            <a:r>
              <a:rPr dirty="0" sz="1250" spc="10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analytics</a:t>
            </a:r>
            <a:r>
              <a:rPr dirty="0" sz="1250" spc="15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essential</a:t>
            </a:r>
            <a:r>
              <a:rPr dirty="0" sz="1250" spc="114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to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understand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trends,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popularity,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and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listener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preferences.</a:t>
            </a:r>
            <a:endParaRPr sz="1250">
              <a:latin typeface="Calibri"/>
              <a:cs typeface="Calibri"/>
            </a:endParaRPr>
          </a:p>
          <a:p>
            <a:pPr marL="268605" marR="2834005">
              <a:lnSpc>
                <a:spcPct val="293600"/>
              </a:lnSpc>
              <a:spcBef>
                <a:spcPts val="555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Spotify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streams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billions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songs,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generating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vast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listening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metadata.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Music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analytics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decodes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trends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popularity,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genre,</a:t>
            </a:r>
            <a:r>
              <a:rPr dirty="0" sz="135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audio</a:t>
            </a:r>
            <a:r>
              <a:rPr dirty="0" sz="135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traits.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3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Data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visualization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turns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raw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numbers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into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clear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musical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insights.</a:t>
            </a:r>
            <a:endParaRPr sz="1350">
              <a:latin typeface="Calibri"/>
              <a:cs typeface="Calibri"/>
            </a:endParaRPr>
          </a:p>
          <a:p>
            <a:pPr marL="268605" marR="2776855">
              <a:lnSpc>
                <a:spcPts val="4760"/>
              </a:lnSpc>
              <a:spcBef>
                <a:spcPts val="480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This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dashboard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analyzes song</a:t>
            </a:r>
            <a:r>
              <a:rPr dirty="0" sz="1350" spc="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attributes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uncover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patterns. Expected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outcome: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clear,</a:t>
            </a:r>
            <a:r>
              <a:rPr dirty="0" sz="135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interactive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view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what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makes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82425" y="6494462"/>
            <a:ext cx="1593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6A6A6A"/>
                </a:solidFill>
                <a:latin typeface="Calibri"/>
                <a:cs typeface="Calibri"/>
              </a:rPr>
              <a:t>02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>
                <a:solidFill>
                  <a:srgbClr val="181313"/>
                </a:solidFill>
                <a:latin typeface="Arial Black"/>
                <a:cs typeface="Arial Black"/>
              </a:rPr>
              <a:t>Problem</a:t>
            </a:r>
            <a:r>
              <a:rPr dirty="0" spc="-34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95">
                <a:solidFill>
                  <a:srgbClr val="181313"/>
                </a:solidFill>
                <a:latin typeface="Arial Black"/>
                <a:cs typeface="Arial Black"/>
              </a:rPr>
              <a:t>Statement</a:t>
            </a:r>
            <a:r>
              <a:rPr dirty="0" spc="-32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270">
                <a:solidFill>
                  <a:srgbClr val="181313"/>
                </a:solidFill>
                <a:latin typeface="Arial Black"/>
                <a:cs typeface="Arial Black"/>
              </a:rPr>
              <a:t>&amp;</a:t>
            </a:r>
            <a:r>
              <a:rPr dirty="0" spc="-37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95">
                <a:solidFill>
                  <a:srgbClr val="181313"/>
                </a:solidFill>
                <a:latin typeface="Arial Black"/>
                <a:cs typeface="Arial Black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1183322"/>
            <a:ext cx="8036559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Large,</a:t>
            </a:r>
            <a:r>
              <a:rPr dirty="0" sz="1250" spc="229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unstructured</a:t>
            </a:r>
            <a:r>
              <a:rPr dirty="0" sz="1250" spc="7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music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datasets</a:t>
            </a:r>
            <a:r>
              <a:rPr dirty="0" sz="1250" spc="8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make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manual</a:t>
            </a:r>
            <a:r>
              <a:rPr dirty="0" sz="1250" spc="16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trend</a:t>
            </a:r>
            <a:r>
              <a:rPr dirty="0" sz="1250" spc="18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discovery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difficult,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motivating</a:t>
            </a:r>
            <a:r>
              <a:rPr dirty="0" sz="1250" spc="7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</a:t>
            </a:r>
            <a:r>
              <a:rPr dirty="0" sz="1250" spc="18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interactive</a:t>
            </a:r>
            <a:r>
              <a:rPr dirty="0" sz="1250" spc="2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dashboard</a:t>
            </a:r>
            <a:r>
              <a:rPr dirty="0" sz="1250" spc="1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solution.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2450" y="1924050"/>
            <a:ext cx="5343525" cy="4200525"/>
            <a:chOff x="552450" y="1924050"/>
            <a:chExt cx="5343525" cy="4200525"/>
          </a:xfrm>
        </p:grpSpPr>
        <p:sp>
          <p:nvSpPr>
            <p:cNvPr id="5" name="object 5"/>
            <p:cNvSpPr/>
            <p:nvPr/>
          </p:nvSpPr>
          <p:spPr>
            <a:xfrm>
              <a:off x="552450" y="1924050"/>
              <a:ext cx="5343525" cy="4200525"/>
            </a:xfrm>
            <a:custGeom>
              <a:avLst/>
              <a:gdLst/>
              <a:ahLst/>
              <a:cxnLst/>
              <a:rect l="l" t="t" r="r" b="b"/>
              <a:pathLst>
                <a:path w="5343525" h="4200525">
                  <a:moveTo>
                    <a:pt x="5233924" y="0"/>
                  </a:moveTo>
                  <a:lnTo>
                    <a:pt x="109588" y="0"/>
                  </a:lnTo>
                  <a:lnTo>
                    <a:pt x="66935" y="8606"/>
                  </a:lnTo>
                  <a:lnTo>
                    <a:pt x="32100" y="32083"/>
                  </a:lnTo>
                  <a:lnTo>
                    <a:pt x="8613" y="66919"/>
                  </a:lnTo>
                  <a:lnTo>
                    <a:pt x="0" y="109600"/>
                  </a:lnTo>
                  <a:lnTo>
                    <a:pt x="0" y="4090936"/>
                  </a:lnTo>
                  <a:lnTo>
                    <a:pt x="8613" y="4133589"/>
                  </a:lnTo>
                  <a:lnTo>
                    <a:pt x="32100" y="4168424"/>
                  </a:lnTo>
                  <a:lnTo>
                    <a:pt x="66935" y="4191911"/>
                  </a:lnTo>
                  <a:lnTo>
                    <a:pt x="109588" y="4200525"/>
                  </a:lnTo>
                  <a:lnTo>
                    <a:pt x="5233924" y="4200525"/>
                  </a:lnTo>
                  <a:lnTo>
                    <a:pt x="5276605" y="4191911"/>
                  </a:lnTo>
                  <a:lnTo>
                    <a:pt x="5311441" y="4168424"/>
                  </a:lnTo>
                  <a:lnTo>
                    <a:pt x="5334918" y="4133589"/>
                  </a:lnTo>
                  <a:lnTo>
                    <a:pt x="5343525" y="4090936"/>
                  </a:lnTo>
                  <a:lnTo>
                    <a:pt x="5343525" y="109600"/>
                  </a:lnTo>
                  <a:lnTo>
                    <a:pt x="5334918" y="66919"/>
                  </a:lnTo>
                  <a:lnTo>
                    <a:pt x="5311441" y="32083"/>
                  </a:lnTo>
                  <a:lnTo>
                    <a:pt x="5276605" y="8606"/>
                  </a:lnTo>
                  <a:lnTo>
                    <a:pt x="52339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775" y="2781300"/>
              <a:ext cx="104775" cy="9525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267450" y="1924050"/>
            <a:ext cx="5343525" cy="4200525"/>
            <a:chOff x="6267450" y="1924050"/>
            <a:chExt cx="5343525" cy="4200525"/>
          </a:xfrm>
        </p:grpSpPr>
        <p:sp>
          <p:nvSpPr>
            <p:cNvPr id="8" name="object 8"/>
            <p:cNvSpPr/>
            <p:nvPr/>
          </p:nvSpPr>
          <p:spPr>
            <a:xfrm>
              <a:off x="6267450" y="1924050"/>
              <a:ext cx="5343525" cy="4200525"/>
            </a:xfrm>
            <a:custGeom>
              <a:avLst/>
              <a:gdLst/>
              <a:ahLst/>
              <a:cxnLst/>
              <a:rect l="l" t="t" r="r" b="b"/>
              <a:pathLst>
                <a:path w="5343525" h="4200525">
                  <a:moveTo>
                    <a:pt x="5233924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4090936"/>
                  </a:lnTo>
                  <a:lnTo>
                    <a:pt x="8606" y="4133589"/>
                  </a:lnTo>
                  <a:lnTo>
                    <a:pt x="32083" y="4168424"/>
                  </a:lnTo>
                  <a:lnTo>
                    <a:pt x="66919" y="4191911"/>
                  </a:lnTo>
                  <a:lnTo>
                    <a:pt x="109600" y="4200525"/>
                  </a:lnTo>
                  <a:lnTo>
                    <a:pt x="5233924" y="4200525"/>
                  </a:lnTo>
                  <a:lnTo>
                    <a:pt x="5276605" y="4191911"/>
                  </a:lnTo>
                  <a:lnTo>
                    <a:pt x="5311441" y="4168424"/>
                  </a:lnTo>
                  <a:lnTo>
                    <a:pt x="5334918" y="4133589"/>
                  </a:lnTo>
                  <a:lnTo>
                    <a:pt x="5343525" y="4090936"/>
                  </a:lnTo>
                  <a:lnTo>
                    <a:pt x="5343525" y="109600"/>
                  </a:lnTo>
                  <a:lnTo>
                    <a:pt x="5334918" y="66919"/>
                  </a:lnTo>
                  <a:lnTo>
                    <a:pt x="5311441" y="32083"/>
                  </a:lnTo>
                  <a:lnTo>
                    <a:pt x="5276605" y="8606"/>
                  </a:lnTo>
                  <a:lnTo>
                    <a:pt x="5233924" y="0"/>
                  </a:lnTo>
                  <a:close/>
                </a:path>
              </a:pathLst>
            </a:custGeom>
            <a:solidFill>
              <a:srgbClr val="1813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1775" y="2781300"/>
              <a:ext cx="104775" cy="952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6614" y="2188781"/>
            <a:ext cx="3295650" cy="65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181313"/>
                </a:solidFill>
                <a:latin typeface="Arial Black"/>
                <a:cs typeface="Arial Black"/>
              </a:rPr>
              <a:t>Problem</a:t>
            </a:r>
            <a:r>
              <a:rPr dirty="0" sz="1800" spc="-22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181313"/>
                </a:solidFill>
                <a:latin typeface="Arial Black"/>
                <a:cs typeface="Arial Black"/>
              </a:rPr>
              <a:t>Statement</a:t>
            </a:r>
            <a:endParaRPr sz="1800">
              <a:latin typeface="Arial Black"/>
              <a:cs typeface="Arial Black"/>
            </a:endParaRPr>
          </a:p>
          <a:p>
            <a:pPr marL="268605">
              <a:lnSpc>
                <a:spcPct val="100000"/>
              </a:lnSpc>
              <a:spcBef>
                <a:spcPts val="1290"/>
              </a:spcBef>
            </a:pP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Growing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need</a:t>
            </a:r>
            <a:r>
              <a:rPr dirty="0" sz="12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2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reliable</a:t>
            </a:r>
            <a:r>
              <a:rPr dirty="0" sz="12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music</a:t>
            </a:r>
            <a:r>
              <a:rPr dirty="0" sz="12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analytics</a:t>
            </a:r>
            <a:r>
              <a:rPr dirty="0" sz="12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2B2B2B"/>
                </a:solidFill>
                <a:latin typeface="Calibri"/>
                <a:cs typeface="Calibri"/>
              </a:rPr>
              <a:t>tools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66775" y="3400425"/>
            <a:ext cx="104775" cy="1971675"/>
            <a:chOff x="866775" y="3400425"/>
            <a:chExt cx="104775" cy="197167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3400425"/>
              <a:ext cx="104775" cy="1047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4019550"/>
              <a:ext cx="104775" cy="1047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775" y="4648200"/>
              <a:ext cx="104775" cy="952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775" y="5267325"/>
              <a:ext cx="104775" cy="1047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12837" y="3246437"/>
            <a:ext cx="322961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Datasets</a:t>
            </a:r>
            <a:r>
              <a:rPr dirty="0" sz="12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contain</a:t>
            </a:r>
            <a:r>
              <a:rPr dirty="0" sz="12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thousands</a:t>
            </a:r>
            <a:r>
              <a:rPr dirty="0" sz="1250" spc="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of songs</a:t>
            </a:r>
            <a:r>
              <a:rPr dirty="0" sz="12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2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features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2837" y="3869690"/>
            <a:ext cx="316039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Identifying</a:t>
            </a:r>
            <a:r>
              <a:rPr dirty="0" sz="12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2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trends</a:t>
            </a:r>
            <a:r>
              <a:rPr dirty="0" sz="12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manually</a:t>
            </a:r>
            <a:r>
              <a:rPr dirty="0" sz="12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is</a:t>
            </a:r>
            <a:r>
              <a:rPr dirty="0" sz="12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difficult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2837" y="4492370"/>
            <a:ext cx="318325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Static</a:t>
            </a:r>
            <a:r>
              <a:rPr dirty="0" sz="12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reports</a:t>
            </a:r>
            <a:r>
              <a:rPr dirty="0" sz="12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fail</a:t>
            </a:r>
            <a:r>
              <a:rPr dirty="0" sz="12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2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support</a:t>
            </a:r>
            <a:r>
              <a:rPr dirty="0" sz="12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dynamic</a:t>
            </a:r>
            <a:r>
              <a:rPr dirty="0" sz="12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exploration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2837" y="5114925"/>
            <a:ext cx="35845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Interactive</a:t>
            </a:r>
            <a:r>
              <a:rPr dirty="0" sz="12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dashboards</a:t>
            </a:r>
            <a:r>
              <a:rPr dirty="0" sz="12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are</a:t>
            </a:r>
            <a:r>
              <a:rPr dirty="0" sz="12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needed</a:t>
            </a:r>
            <a:r>
              <a:rPr dirty="0" sz="12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250" spc="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dirty="0" sz="1250">
                <a:solidFill>
                  <a:srgbClr val="2B2B2B"/>
                </a:solidFill>
                <a:latin typeface="Calibri"/>
                <a:cs typeface="Calibri"/>
              </a:rPr>
              <a:t>time</a:t>
            </a:r>
            <a:r>
              <a:rPr dirty="0" sz="12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2B2B2B"/>
                </a:solidFill>
                <a:latin typeface="Calibri"/>
                <a:cs typeface="Calibri"/>
              </a:rPr>
              <a:t>insight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6059" y="2188781"/>
            <a:ext cx="3779520" cy="65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DB853"/>
                </a:solidFill>
                <a:latin typeface="Arial Black"/>
                <a:cs typeface="Arial Black"/>
              </a:rPr>
              <a:t>Objectives</a:t>
            </a:r>
            <a:endParaRPr sz="1800">
              <a:latin typeface="Arial Black"/>
              <a:cs typeface="Arial Black"/>
            </a:endParaRPr>
          </a:p>
          <a:p>
            <a:pPr marL="268605">
              <a:lnSpc>
                <a:spcPct val="100000"/>
              </a:lnSpc>
              <a:spcBef>
                <a:spcPts val="1290"/>
              </a:spcBef>
            </a:pP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songs</a:t>
            </a:r>
            <a:r>
              <a:rPr dirty="0" sz="12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12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popularity</a:t>
            </a:r>
            <a:r>
              <a:rPr dirty="0" sz="12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and audio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dimensions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81775" y="3400425"/>
            <a:ext cx="104775" cy="1971675"/>
            <a:chOff x="6581775" y="3400425"/>
            <a:chExt cx="104775" cy="197167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1775" y="3400425"/>
              <a:ext cx="104775" cy="1047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1775" y="4019550"/>
              <a:ext cx="104775" cy="1047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1775" y="4648200"/>
              <a:ext cx="104775" cy="952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1775" y="5267325"/>
              <a:ext cx="104775" cy="1047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832345" y="3246437"/>
            <a:ext cx="332359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r>
              <a:rPr dirty="0" sz="12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popularity</a:t>
            </a:r>
            <a:r>
              <a:rPr dirty="0" sz="12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r>
              <a:rPr dirty="0" sz="12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12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dirty="0" sz="12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32345" y="3869690"/>
            <a:ext cx="288607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Compare</a:t>
            </a:r>
            <a:r>
              <a:rPr dirty="0" sz="12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artists</a:t>
            </a:r>
            <a:r>
              <a:rPr dirty="0" sz="12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5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tracks</a:t>
            </a:r>
            <a:r>
              <a:rPr dirty="0" sz="12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sz="12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32345" y="4492370"/>
            <a:ext cx="302768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Visualize</a:t>
            </a:r>
            <a:r>
              <a:rPr dirty="0" sz="12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dirty="0" sz="125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dirty="0" sz="12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r>
              <a:rPr dirty="0" sz="12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32345" y="5114925"/>
            <a:ext cx="3021330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dirty="0" sz="125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12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interactive</a:t>
            </a:r>
            <a:r>
              <a:rPr dirty="0" sz="12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12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782425" y="6494462"/>
            <a:ext cx="1593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6A6A6A"/>
                </a:solidFill>
                <a:latin typeface="Calibri"/>
                <a:cs typeface="Calibri"/>
              </a:rPr>
              <a:t>03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257" y="457580"/>
            <a:ext cx="5543550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0">
                <a:solidFill>
                  <a:srgbClr val="181313"/>
                </a:solidFill>
                <a:latin typeface="Arial Black"/>
                <a:cs typeface="Arial Black"/>
              </a:rPr>
              <a:t>Dataset</a:t>
            </a:r>
            <a:r>
              <a:rPr dirty="0" spc="-38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270">
                <a:solidFill>
                  <a:srgbClr val="181313"/>
                </a:solidFill>
                <a:latin typeface="Arial Black"/>
                <a:cs typeface="Arial Black"/>
              </a:rPr>
              <a:t>&amp;</a:t>
            </a:r>
            <a:r>
              <a:rPr dirty="0" spc="-28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105">
                <a:solidFill>
                  <a:srgbClr val="181313"/>
                </a:solidFill>
                <a:latin typeface="Arial Black"/>
                <a:cs typeface="Arial Black"/>
              </a:rPr>
              <a:t>Technology</a:t>
            </a:r>
            <a:r>
              <a:rPr dirty="0" spc="-31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110">
                <a:solidFill>
                  <a:srgbClr val="181313"/>
                </a:solidFill>
                <a:latin typeface="Arial Black"/>
                <a:cs typeface="Arial Black"/>
              </a:rPr>
              <a:t>Stack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6257" y="1183322"/>
            <a:ext cx="7044690" cy="1497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Built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on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large</a:t>
            </a:r>
            <a:r>
              <a:rPr dirty="0" sz="1250" spc="1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real-world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Spotify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dataset</a:t>
            </a:r>
            <a:r>
              <a:rPr dirty="0" sz="1250" spc="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using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</a:t>
            </a:r>
            <a:r>
              <a:rPr dirty="0" sz="1250" spc="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modern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Python-based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analytics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and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visualization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stack.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contains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35,200</a:t>
            </a:r>
            <a:r>
              <a:rPr dirty="0" sz="13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9,202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unique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artists.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13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  <a:spcBef>
                <a:spcPts val="5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Key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features: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popularity, danceability,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energy, tempo,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valence.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92480" y="3054286"/>
            <a:ext cx="433832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Also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includes</a:t>
            </a:r>
            <a:r>
              <a:rPr dirty="0" sz="1350" spc="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acousticness,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speechiness,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liveness,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explicit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flag.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92480" y="3658552"/>
            <a:ext cx="4509770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Built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using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Python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Pandas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data processing</a:t>
            </a:r>
            <a:r>
              <a:rPr dirty="0" sz="135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cleaning.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Visualized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with Streamlit,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Plotly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Express,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Figure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Factory.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53250" y="2009775"/>
            <a:ext cx="2200275" cy="1828800"/>
            <a:chOff x="6953250" y="2009775"/>
            <a:chExt cx="2200275" cy="1828800"/>
          </a:xfrm>
        </p:grpSpPr>
        <p:sp>
          <p:nvSpPr>
            <p:cNvPr id="12" name="object 12"/>
            <p:cNvSpPr/>
            <p:nvPr/>
          </p:nvSpPr>
          <p:spPr>
            <a:xfrm>
              <a:off x="6953250" y="2009775"/>
              <a:ext cx="2200275" cy="1828800"/>
            </a:xfrm>
            <a:custGeom>
              <a:avLst/>
              <a:gdLst/>
              <a:ahLst/>
              <a:cxnLst/>
              <a:rect l="l" t="t" r="r" b="b"/>
              <a:pathLst>
                <a:path w="2200275" h="1828800">
                  <a:moveTo>
                    <a:pt x="210883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79" y="1772971"/>
                  </a:lnTo>
                  <a:lnTo>
                    <a:pt x="26765" y="1802034"/>
                  </a:lnTo>
                  <a:lnTo>
                    <a:pt x="55828" y="1821620"/>
                  </a:lnTo>
                  <a:lnTo>
                    <a:pt x="91440" y="1828800"/>
                  </a:lnTo>
                  <a:lnTo>
                    <a:pt x="2108834" y="1828800"/>
                  </a:lnTo>
                  <a:lnTo>
                    <a:pt x="2144446" y="1821620"/>
                  </a:lnTo>
                  <a:lnTo>
                    <a:pt x="2173509" y="1802034"/>
                  </a:lnTo>
                  <a:lnTo>
                    <a:pt x="2193095" y="1772971"/>
                  </a:lnTo>
                  <a:lnTo>
                    <a:pt x="2200275" y="1737360"/>
                  </a:lnTo>
                  <a:lnTo>
                    <a:pt x="2200275" y="91439"/>
                  </a:lnTo>
                  <a:lnTo>
                    <a:pt x="2193095" y="55828"/>
                  </a:lnTo>
                  <a:lnTo>
                    <a:pt x="2173509" y="26765"/>
                  </a:lnTo>
                  <a:lnTo>
                    <a:pt x="2144446" y="7179"/>
                  </a:lnTo>
                  <a:lnTo>
                    <a:pt x="21088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86675" y="2305050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775" y="0"/>
                  </a:move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6"/>
                  </a:lnTo>
                  <a:lnTo>
                    <a:pt x="194352" y="42969"/>
                  </a:lnTo>
                  <a:lnTo>
                    <a:pt x="157228" y="65706"/>
                  </a:lnTo>
                  <a:lnTo>
                    <a:pt x="123185" y="92553"/>
                  </a:lnTo>
                  <a:lnTo>
                    <a:pt x="92565" y="123165"/>
                  </a:lnTo>
                  <a:lnTo>
                    <a:pt x="65713" y="157199"/>
                  </a:lnTo>
                  <a:lnTo>
                    <a:pt x="42973" y="194310"/>
                  </a:lnTo>
                  <a:lnTo>
                    <a:pt x="24688" y="234155"/>
                  </a:lnTo>
                  <a:lnTo>
                    <a:pt x="11201" y="276389"/>
                  </a:lnTo>
                  <a:lnTo>
                    <a:pt x="2857" y="320668"/>
                  </a:lnTo>
                  <a:lnTo>
                    <a:pt x="0" y="366649"/>
                  </a:lnTo>
                  <a:lnTo>
                    <a:pt x="2857" y="412656"/>
                  </a:lnTo>
                  <a:lnTo>
                    <a:pt x="11201" y="456958"/>
                  </a:lnTo>
                  <a:lnTo>
                    <a:pt x="24688" y="499212"/>
                  </a:lnTo>
                  <a:lnTo>
                    <a:pt x="42973" y="539072"/>
                  </a:lnTo>
                  <a:lnTo>
                    <a:pt x="65713" y="576196"/>
                  </a:lnTo>
                  <a:lnTo>
                    <a:pt x="92565" y="610239"/>
                  </a:lnTo>
                  <a:lnTo>
                    <a:pt x="123185" y="640859"/>
                  </a:lnTo>
                  <a:lnTo>
                    <a:pt x="157228" y="667711"/>
                  </a:lnTo>
                  <a:lnTo>
                    <a:pt x="194352" y="690451"/>
                  </a:lnTo>
                  <a:lnTo>
                    <a:pt x="234212" y="708736"/>
                  </a:lnTo>
                  <a:lnTo>
                    <a:pt x="276466" y="722223"/>
                  </a:lnTo>
                  <a:lnTo>
                    <a:pt x="320768" y="730567"/>
                  </a:lnTo>
                  <a:lnTo>
                    <a:pt x="366775" y="733425"/>
                  </a:lnTo>
                  <a:lnTo>
                    <a:pt x="412756" y="730567"/>
                  </a:lnTo>
                  <a:lnTo>
                    <a:pt x="457035" y="722223"/>
                  </a:lnTo>
                  <a:lnTo>
                    <a:pt x="499269" y="708736"/>
                  </a:lnTo>
                  <a:lnTo>
                    <a:pt x="539114" y="690451"/>
                  </a:lnTo>
                  <a:lnTo>
                    <a:pt x="576225" y="667711"/>
                  </a:lnTo>
                  <a:lnTo>
                    <a:pt x="610259" y="640859"/>
                  </a:lnTo>
                  <a:lnTo>
                    <a:pt x="640871" y="610239"/>
                  </a:lnTo>
                  <a:lnTo>
                    <a:pt x="667718" y="576196"/>
                  </a:lnTo>
                  <a:lnTo>
                    <a:pt x="690455" y="539072"/>
                  </a:lnTo>
                  <a:lnTo>
                    <a:pt x="708738" y="499212"/>
                  </a:lnTo>
                  <a:lnTo>
                    <a:pt x="722223" y="456958"/>
                  </a:lnTo>
                  <a:lnTo>
                    <a:pt x="730567" y="412656"/>
                  </a:lnTo>
                  <a:lnTo>
                    <a:pt x="733425" y="366649"/>
                  </a:lnTo>
                  <a:lnTo>
                    <a:pt x="730567" y="320668"/>
                  </a:lnTo>
                  <a:lnTo>
                    <a:pt x="722223" y="276389"/>
                  </a:lnTo>
                  <a:lnTo>
                    <a:pt x="708738" y="234155"/>
                  </a:lnTo>
                  <a:lnTo>
                    <a:pt x="690455" y="194310"/>
                  </a:lnTo>
                  <a:lnTo>
                    <a:pt x="667718" y="157199"/>
                  </a:lnTo>
                  <a:lnTo>
                    <a:pt x="640871" y="123165"/>
                  </a:lnTo>
                  <a:lnTo>
                    <a:pt x="610259" y="92553"/>
                  </a:lnTo>
                  <a:lnTo>
                    <a:pt x="576225" y="65706"/>
                  </a:lnTo>
                  <a:lnTo>
                    <a:pt x="539114" y="42969"/>
                  </a:lnTo>
                  <a:lnTo>
                    <a:pt x="499269" y="24686"/>
                  </a:lnTo>
                  <a:lnTo>
                    <a:pt x="457035" y="11201"/>
                  </a:lnTo>
                  <a:lnTo>
                    <a:pt x="412756" y="2857"/>
                  </a:lnTo>
                  <a:lnTo>
                    <a:pt x="366775" y="0"/>
                  </a:lnTo>
                  <a:close/>
                </a:path>
              </a:pathLst>
            </a:custGeom>
            <a:solidFill>
              <a:srgbClr val="3776A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696834" y="3195891"/>
            <a:ext cx="7251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181313"/>
                </a:solidFill>
                <a:latin typeface="Arial Black"/>
                <a:cs typeface="Arial Black"/>
              </a:rPr>
              <a:t>Python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10700" y="2009775"/>
            <a:ext cx="2200275" cy="1828800"/>
            <a:chOff x="9410700" y="2009775"/>
            <a:chExt cx="2200275" cy="1828800"/>
          </a:xfrm>
        </p:grpSpPr>
        <p:sp>
          <p:nvSpPr>
            <p:cNvPr id="16" name="object 16"/>
            <p:cNvSpPr/>
            <p:nvPr/>
          </p:nvSpPr>
          <p:spPr>
            <a:xfrm>
              <a:off x="9410700" y="2009775"/>
              <a:ext cx="2200275" cy="1828800"/>
            </a:xfrm>
            <a:custGeom>
              <a:avLst/>
              <a:gdLst/>
              <a:ahLst/>
              <a:cxnLst/>
              <a:rect l="l" t="t" r="r" b="b"/>
              <a:pathLst>
                <a:path w="2200275" h="1828800">
                  <a:moveTo>
                    <a:pt x="210883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79" y="1772971"/>
                  </a:lnTo>
                  <a:lnTo>
                    <a:pt x="26765" y="1802034"/>
                  </a:lnTo>
                  <a:lnTo>
                    <a:pt x="55828" y="1821620"/>
                  </a:lnTo>
                  <a:lnTo>
                    <a:pt x="91440" y="1828800"/>
                  </a:lnTo>
                  <a:lnTo>
                    <a:pt x="2108834" y="1828800"/>
                  </a:lnTo>
                  <a:lnTo>
                    <a:pt x="2144446" y="1821620"/>
                  </a:lnTo>
                  <a:lnTo>
                    <a:pt x="2173509" y="1802034"/>
                  </a:lnTo>
                  <a:lnTo>
                    <a:pt x="2193095" y="1772971"/>
                  </a:lnTo>
                  <a:lnTo>
                    <a:pt x="2200275" y="1737360"/>
                  </a:lnTo>
                  <a:lnTo>
                    <a:pt x="2200275" y="91439"/>
                  </a:lnTo>
                  <a:lnTo>
                    <a:pt x="2193095" y="55828"/>
                  </a:lnTo>
                  <a:lnTo>
                    <a:pt x="2173509" y="26765"/>
                  </a:lnTo>
                  <a:lnTo>
                    <a:pt x="2144446" y="7179"/>
                  </a:lnTo>
                  <a:lnTo>
                    <a:pt x="21088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144125" y="2305050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775" y="0"/>
                  </a:move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6"/>
                  </a:lnTo>
                  <a:lnTo>
                    <a:pt x="194352" y="42969"/>
                  </a:lnTo>
                  <a:lnTo>
                    <a:pt x="157228" y="65706"/>
                  </a:lnTo>
                  <a:lnTo>
                    <a:pt x="123185" y="92553"/>
                  </a:lnTo>
                  <a:lnTo>
                    <a:pt x="92565" y="123165"/>
                  </a:lnTo>
                  <a:lnTo>
                    <a:pt x="65713" y="157199"/>
                  </a:lnTo>
                  <a:lnTo>
                    <a:pt x="42973" y="194310"/>
                  </a:lnTo>
                  <a:lnTo>
                    <a:pt x="24688" y="234155"/>
                  </a:lnTo>
                  <a:lnTo>
                    <a:pt x="11201" y="276389"/>
                  </a:lnTo>
                  <a:lnTo>
                    <a:pt x="2857" y="320668"/>
                  </a:lnTo>
                  <a:lnTo>
                    <a:pt x="0" y="366649"/>
                  </a:lnTo>
                  <a:lnTo>
                    <a:pt x="2857" y="412656"/>
                  </a:lnTo>
                  <a:lnTo>
                    <a:pt x="11201" y="456958"/>
                  </a:lnTo>
                  <a:lnTo>
                    <a:pt x="24688" y="499212"/>
                  </a:lnTo>
                  <a:lnTo>
                    <a:pt x="42973" y="539072"/>
                  </a:lnTo>
                  <a:lnTo>
                    <a:pt x="65713" y="576196"/>
                  </a:lnTo>
                  <a:lnTo>
                    <a:pt x="92565" y="610239"/>
                  </a:lnTo>
                  <a:lnTo>
                    <a:pt x="123185" y="640859"/>
                  </a:lnTo>
                  <a:lnTo>
                    <a:pt x="157228" y="667711"/>
                  </a:lnTo>
                  <a:lnTo>
                    <a:pt x="194352" y="690451"/>
                  </a:lnTo>
                  <a:lnTo>
                    <a:pt x="234212" y="708736"/>
                  </a:lnTo>
                  <a:lnTo>
                    <a:pt x="276466" y="722223"/>
                  </a:lnTo>
                  <a:lnTo>
                    <a:pt x="320768" y="730567"/>
                  </a:lnTo>
                  <a:lnTo>
                    <a:pt x="366775" y="733425"/>
                  </a:lnTo>
                  <a:lnTo>
                    <a:pt x="412756" y="730567"/>
                  </a:lnTo>
                  <a:lnTo>
                    <a:pt x="457035" y="722223"/>
                  </a:lnTo>
                  <a:lnTo>
                    <a:pt x="499269" y="708736"/>
                  </a:lnTo>
                  <a:lnTo>
                    <a:pt x="539114" y="690451"/>
                  </a:lnTo>
                  <a:lnTo>
                    <a:pt x="576225" y="667711"/>
                  </a:lnTo>
                  <a:lnTo>
                    <a:pt x="610259" y="640859"/>
                  </a:lnTo>
                  <a:lnTo>
                    <a:pt x="640871" y="610239"/>
                  </a:lnTo>
                  <a:lnTo>
                    <a:pt x="667718" y="576196"/>
                  </a:lnTo>
                  <a:lnTo>
                    <a:pt x="690455" y="539072"/>
                  </a:lnTo>
                  <a:lnTo>
                    <a:pt x="708738" y="499212"/>
                  </a:lnTo>
                  <a:lnTo>
                    <a:pt x="722223" y="456958"/>
                  </a:lnTo>
                  <a:lnTo>
                    <a:pt x="730567" y="412656"/>
                  </a:lnTo>
                  <a:lnTo>
                    <a:pt x="733425" y="366649"/>
                  </a:lnTo>
                  <a:lnTo>
                    <a:pt x="730567" y="320668"/>
                  </a:lnTo>
                  <a:lnTo>
                    <a:pt x="722223" y="276389"/>
                  </a:lnTo>
                  <a:lnTo>
                    <a:pt x="708738" y="234155"/>
                  </a:lnTo>
                  <a:lnTo>
                    <a:pt x="690455" y="194310"/>
                  </a:lnTo>
                  <a:lnTo>
                    <a:pt x="667718" y="157199"/>
                  </a:lnTo>
                  <a:lnTo>
                    <a:pt x="640871" y="123165"/>
                  </a:lnTo>
                  <a:lnTo>
                    <a:pt x="610259" y="92553"/>
                  </a:lnTo>
                  <a:lnTo>
                    <a:pt x="576225" y="65706"/>
                  </a:lnTo>
                  <a:lnTo>
                    <a:pt x="539114" y="42969"/>
                  </a:lnTo>
                  <a:lnTo>
                    <a:pt x="499269" y="24686"/>
                  </a:lnTo>
                  <a:lnTo>
                    <a:pt x="457035" y="11201"/>
                  </a:lnTo>
                  <a:lnTo>
                    <a:pt x="412756" y="2857"/>
                  </a:lnTo>
                  <a:lnTo>
                    <a:pt x="366775" y="0"/>
                  </a:lnTo>
                  <a:close/>
                </a:path>
              </a:pathLst>
            </a:custGeom>
            <a:solidFill>
              <a:srgbClr val="FF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049509" y="3195891"/>
            <a:ext cx="9429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0">
                <a:solidFill>
                  <a:srgbClr val="181313"/>
                </a:solidFill>
                <a:latin typeface="Arial Black"/>
                <a:cs typeface="Arial Black"/>
              </a:rPr>
              <a:t>Streamlit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953250" y="4095750"/>
            <a:ext cx="2200275" cy="1828800"/>
            <a:chOff x="6953250" y="4095750"/>
            <a:chExt cx="2200275" cy="1828800"/>
          </a:xfrm>
        </p:grpSpPr>
        <p:sp>
          <p:nvSpPr>
            <p:cNvPr id="20" name="object 20"/>
            <p:cNvSpPr/>
            <p:nvPr/>
          </p:nvSpPr>
          <p:spPr>
            <a:xfrm>
              <a:off x="6953250" y="4095750"/>
              <a:ext cx="2200275" cy="1828800"/>
            </a:xfrm>
            <a:custGeom>
              <a:avLst/>
              <a:gdLst/>
              <a:ahLst/>
              <a:cxnLst/>
              <a:rect l="l" t="t" r="r" b="b"/>
              <a:pathLst>
                <a:path w="2200275" h="1828800">
                  <a:moveTo>
                    <a:pt x="210883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79" y="1772950"/>
                  </a:lnTo>
                  <a:lnTo>
                    <a:pt x="26765" y="1802015"/>
                  </a:lnTo>
                  <a:lnTo>
                    <a:pt x="55828" y="1821613"/>
                  </a:lnTo>
                  <a:lnTo>
                    <a:pt x="91440" y="1828800"/>
                  </a:lnTo>
                  <a:lnTo>
                    <a:pt x="2108834" y="1828800"/>
                  </a:lnTo>
                  <a:lnTo>
                    <a:pt x="2144446" y="1821613"/>
                  </a:lnTo>
                  <a:lnTo>
                    <a:pt x="2173509" y="1802015"/>
                  </a:lnTo>
                  <a:lnTo>
                    <a:pt x="2193095" y="1772950"/>
                  </a:lnTo>
                  <a:lnTo>
                    <a:pt x="2200275" y="1737360"/>
                  </a:lnTo>
                  <a:lnTo>
                    <a:pt x="2200275" y="91439"/>
                  </a:lnTo>
                  <a:lnTo>
                    <a:pt x="2193095" y="55828"/>
                  </a:lnTo>
                  <a:lnTo>
                    <a:pt x="2173509" y="26765"/>
                  </a:lnTo>
                  <a:lnTo>
                    <a:pt x="2144446" y="7179"/>
                  </a:lnTo>
                  <a:lnTo>
                    <a:pt x="21088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686675" y="4391025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775" y="0"/>
                  </a:move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6"/>
                  </a:lnTo>
                  <a:lnTo>
                    <a:pt x="194352" y="42969"/>
                  </a:lnTo>
                  <a:lnTo>
                    <a:pt x="157228" y="65706"/>
                  </a:lnTo>
                  <a:lnTo>
                    <a:pt x="123185" y="92553"/>
                  </a:lnTo>
                  <a:lnTo>
                    <a:pt x="92565" y="123165"/>
                  </a:lnTo>
                  <a:lnTo>
                    <a:pt x="65713" y="157199"/>
                  </a:lnTo>
                  <a:lnTo>
                    <a:pt x="42973" y="194310"/>
                  </a:lnTo>
                  <a:lnTo>
                    <a:pt x="24688" y="234155"/>
                  </a:lnTo>
                  <a:lnTo>
                    <a:pt x="11201" y="276389"/>
                  </a:lnTo>
                  <a:lnTo>
                    <a:pt x="2857" y="320668"/>
                  </a:lnTo>
                  <a:lnTo>
                    <a:pt x="0" y="366649"/>
                  </a:lnTo>
                  <a:lnTo>
                    <a:pt x="2857" y="412656"/>
                  </a:lnTo>
                  <a:lnTo>
                    <a:pt x="11201" y="456958"/>
                  </a:lnTo>
                  <a:lnTo>
                    <a:pt x="24688" y="499212"/>
                  </a:lnTo>
                  <a:lnTo>
                    <a:pt x="42973" y="539072"/>
                  </a:lnTo>
                  <a:lnTo>
                    <a:pt x="65713" y="576196"/>
                  </a:lnTo>
                  <a:lnTo>
                    <a:pt x="92565" y="610239"/>
                  </a:lnTo>
                  <a:lnTo>
                    <a:pt x="123185" y="640859"/>
                  </a:lnTo>
                  <a:lnTo>
                    <a:pt x="157228" y="667711"/>
                  </a:lnTo>
                  <a:lnTo>
                    <a:pt x="194352" y="690451"/>
                  </a:lnTo>
                  <a:lnTo>
                    <a:pt x="234212" y="708736"/>
                  </a:lnTo>
                  <a:lnTo>
                    <a:pt x="276466" y="722223"/>
                  </a:lnTo>
                  <a:lnTo>
                    <a:pt x="320768" y="730567"/>
                  </a:lnTo>
                  <a:lnTo>
                    <a:pt x="366775" y="733425"/>
                  </a:lnTo>
                  <a:lnTo>
                    <a:pt x="412756" y="730567"/>
                  </a:lnTo>
                  <a:lnTo>
                    <a:pt x="457035" y="722223"/>
                  </a:lnTo>
                  <a:lnTo>
                    <a:pt x="499269" y="708736"/>
                  </a:lnTo>
                  <a:lnTo>
                    <a:pt x="539114" y="690451"/>
                  </a:lnTo>
                  <a:lnTo>
                    <a:pt x="576225" y="667711"/>
                  </a:lnTo>
                  <a:lnTo>
                    <a:pt x="610259" y="640859"/>
                  </a:lnTo>
                  <a:lnTo>
                    <a:pt x="640871" y="610239"/>
                  </a:lnTo>
                  <a:lnTo>
                    <a:pt x="667718" y="576196"/>
                  </a:lnTo>
                  <a:lnTo>
                    <a:pt x="690455" y="539072"/>
                  </a:lnTo>
                  <a:lnTo>
                    <a:pt x="708738" y="499212"/>
                  </a:lnTo>
                  <a:lnTo>
                    <a:pt x="722223" y="456958"/>
                  </a:lnTo>
                  <a:lnTo>
                    <a:pt x="730567" y="412656"/>
                  </a:lnTo>
                  <a:lnTo>
                    <a:pt x="733425" y="366649"/>
                  </a:lnTo>
                  <a:lnTo>
                    <a:pt x="730567" y="320668"/>
                  </a:lnTo>
                  <a:lnTo>
                    <a:pt x="722223" y="276389"/>
                  </a:lnTo>
                  <a:lnTo>
                    <a:pt x="708738" y="234155"/>
                  </a:lnTo>
                  <a:lnTo>
                    <a:pt x="690455" y="194310"/>
                  </a:lnTo>
                  <a:lnTo>
                    <a:pt x="667718" y="157199"/>
                  </a:lnTo>
                  <a:lnTo>
                    <a:pt x="640871" y="123165"/>
                  </a:lnTo>
                  <a:lnTo>
                    <a:pt x="610259" y="92553"/>
                  </a:lnTo>
                  <a:lnTo>
                    <a:pt x="576225" y="65706"/>
                  </a:lnTo>
                  <a:lnTo>
                    <a:pt x="539114" y="42969"/>
                  </a:lnTo>
                  <a:lnTo>
                    <a:pt x="499269" y="24686"/>
                  </a:lnTo>
                  <a:lnTo>
                    <a:pt x="457035" y="11201"/>
                  </a:lnTo>
                  <a:lnTo>
                    <a:pt x="412756" y="2857"/>
                  </a:lnTo>
                  <a:lnTo>
                    <a:pt x="366775" y="0"/>
                  </a:lnTo>
                  <a:close/>
                </a:path>
              </a:pathLst>
            </a:custGeom>
            <a:solidFill>
              <a:srgbClr val="15045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674609" y="5283517"/>
            <a:ext cx="7696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5">
                <a:solidFill>
                  <a:srgbClr val="181313"/>
                </a:solidFill>
                <a:latin typeface="Arial Black"/>
                <a:cs typeface="Arial Black"/>
              </a:rPr>
              <a:t>Pandas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410700" y="4095750"/>
            <a:ext cx="2200275" cy="1828800"/>
            <a:chOff x="9410700" y="4095750"/>
            <a:chExt cx="2200275" cy="1828800"/>
          </a:xfrm>
        </p:grpSpPr>
        <p:sp>
          <p:nvSpPr>
            <p:cNvPr id="24" name="object 24"/>
            <p:cNvSpPr/>
            <p:nvPr/>
          </p:nvSpPr>
          <p:spPr>
            <a:xfrm>
              <a:off x="9410700" y="4095750"/>
              <a:ext cx="2200275" cy="1828800"/>
            </a:xfrm>
            <a:custGeom>
              <a:avLst/>
              <a:gdLst/>
              <a:ahLst/>
              <a:cxnLst/>
              <a:rect l="l" t="t" r="r" b="b"/>
              <a:pathLst>
                <a:path w="2200275" h="1828800">
                  <a:moveTo>
                    <a:pt x="2108834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79" y="1772950"/>
                  </a:lnTo>
                  <a:lnTo>
                    <a:pt x="26765" y="1802015"/>
                  </a:lnTo>
                  <a:lnTo>
                    <a:pt x="55828" y="1821613"/>
                  </a:lnTo>
                  <a:lnTo>
                    <a:pt x="91440" y="1828800"/>
                  </a:lnTo>
                  <a:lnTo>
                    <a:pt x="2108834" y="1828800"/>
                  </a:lnTo>
                  <a:lnTo>
                    <a:pt x="2144446" y="1821613"/>
                  </a:lnTo>
                  <a:lnTo>
                    <a:pt x="2173509" y="1802015"/>
                  </a:lnTo>
                  <a:lnTo>
                    <a:pt x="2193095" y="1772950"/>
                  </a:lnTo>
                  <a:lnTo>
                    <a:pt x="2200275" y="1737360"/>
                  </a:lnTo>
                  <a:lnTo>
                    <a:pt x="2200275" y="91439"/>
                  </a:lnTo>
                  <a:lnTo>
                    <a:pt x="2193095" y="55828"/>
                  </a:lnTo>
                  <a:lnTo>
                    <a:pt x="2173509" y="26765"/>
                  </a:lnTo>
                  <a:lnTo>
                    <a:pt x="2144446" y="7179"/>
                  </a:lnTo>
                  <a:lnTo>
                    <a:pt x="21088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144125" y="4391025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775" y="0"/>
                  </a:move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6"/>
                  </a:lnTo>
                  <a:lnTo>
                    <a:pt x="194352" y="42969"/>
                  </a:lnTo>
                  <a:lnTo>
                    <a:pt x="157228" y="65706"/>
                  </a:lnTo>
                  <a:lnTo>
                    <a:pt x="123185" y="92553"/>
                  </a:lnTo>
                  <a:lnTo>
                    <a:pt x="92565" y="123165"/>
                  </a:lnTo>
                  <a:lnTo>
                    <a:pt x="65713" y="157199"/>
                  </a:lnTo>
                  <a:lnTo>
                    <a:pt x="42973" y="194310"/>
                  </a:lnTo>
                  <a:lnTo>
                    <a:pt x="24688" y="234155"/>
                  </a:lnTo>
                  <a:lnTo>
                    <a:pt x="11201" y="276389"/>
                  </a:lnTo>
                  <a:lnTo>
                    <a:pt x="2857" y="320668"/>
                  </a:lnTo>
                  <a:lnTo>
                    <a:pt x="0" y="366649"/>
                  </a:lnTo>
                  <a:lnTo>
                    <a:pt x="2857" y="412656"/>
                  </a:lnTo>
                  <a:lnTo>
                    <a:pt x="11201" y="456958"/>
                  </a:lnTo>
                  <a:lnTo>
                    <a:pt x="24688" y="499212"/>
                  </a:lnTo>
                  <a:lnTo>
                    <a:pt x="42973" y="539072"/>
                  </a:lnTo>
                  <a:lnTo>
                    <a:pt x="65713" y="576196"/>
                  </a:lnTo>
                  <a:lnTo>
                    <a:pt x="92565" y="610239"/>
                  </a:lnTo>
                  <a:lnTo>
                    <a:pt x="123185" y="640859"/>
                  </a:lnTo>
                  <a:lnTo>
                    <a:pt x="157228" y="667711"/>
                  </a:lnTo>
                  <a:lnTo>
                    <a:pt x="194352" y="690451"/>
                  </a:lnTo>
                  <a:lnTo>
                    <a:pt x="234212" y="708736"/>
                  </a:lnTo>
                  <a:lnTo>
                    <a:pt x="276466" y="722223"/>
                  </a:lnTo>
                  <a:lnTo>
                    <a:pt x="320768" y="730567"/>
                  </a:lnTo>
                  <a:lnTo>
                    <a:pt x="366775" y="733425"/>
                  </a:lnTo>
                  <a:lnTo>
                    <a:pt x="412756" y="730567"/>
                  </a:lnTo>
                  <a:lnTo>
                    <a:pt x="457035" y="722223"/>
                  </a:lnTo>
                  <a:lnTo>
                    <a:pt x="499269" y="708736"/>
                  </a:lnTo>
                  <a:lnTo>
                    <a:pt x="539114" y="690451"/>
                  </a:lnTo>
                  <a:lnTo>
                    <a:pt x="576225" y="667711"/>
                  </a:lnTo>
                  <a:lnTo>
                    <a:pt x="610259" y="640859"/>
                  </a:lnTo>
                  <a:lnTo>
                    <a:pt x="640871" y="610239"/>
                  </a:lnTo>
                  <a:lnTo>
                    <a:pt x="667718" y="576196"/>
                  </a:lnTo>
                  <a:lnTo>
                    <a:pt x="690455" y="539072"/>
                  </a:lnTo>
                  <a:lnTo>
                    <a:pt x="708738" y="499212"/>
                  </a:lnTo>
                  <a:lnTo>
                    <a:pt x="722223" y="456958"/>
                  </a:lnTo>
                  <a:lnTo>
                    <a:pt x="730567" y="412656"/>
                  </a:lnTo>
                  <a:lnTo>
                    <a:pt x="733425" y="366649"/>
                  </a:lnTo>
                  <a:lnTo>
                    <a:pt x="730567" y="320668"/>
                  </a:lnTo>
                  <a:lnTo>
                    <a:pt x="722223" y="276389"/>
                  </a:lnTo>
                  <a:lnTo>
                    <a:pt x="708738" y="234155"/>
                  </a:lnTo>
                  <a:lnTo>
                    <a:pt x="690455" y="194310"/>
                  </a:lnTo>
                  <a:lnTo>
                    <a:pt x="667718" y="157199"/>
                  </a:lnTo>
                  <a:lnTo>
                    <a:pt x="640871" y="123165"/>
                  </a:lnTo>
                  <a:lnTo>
                    <a:pt x="610259" y="92553"/>
                  </a:lnTo>
                  <a:lnTo>
                    <a:pt x="576225" y="65706"/>
                  </a:lnTo>
                  <a:lnTo>
                    <a:pt x="539114" y="42969"/>
                  </a:lnTo>
                  <a:lnTo>
                    <a:pt x="499269" y="24686"/>
                  </a:lnTo>
                  <a:lnTo>
                    <a:pt x="457035" y="11201"/>
                  </a:lnTo>
                  <a:lnTo>
                    <a:pt x="412756" y="2857"/>
                  </a:lnTo>
                  <a:lnTo>
                    <a:pt x="366775" y="0"/>
                  </a:lnTo>
                  <a:close/>
                </a:path>
              </a:pathLst>
            </a:custGeom>
            <a:solidFill>
              <a:srgbClr val="1DB8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231501" y="5283517"/>
            <a:ext cx="5759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>
                <a:solidFill>
                  <a:srgbClr val="181313"/>
                </a:solidFill>
                <a:latin typeface="Arial Black"/>
                <a:cs typeface="Arial Black"/>
              </a:rPr>
              <a:t>Plotly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82425" y="6494462"/>
            <a:ext cx="1593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6A6A6A"/>
                </a:solidFill>
                <a:latin typeface="Calibri"/>
                <a:cs typeface="Calibri"/>
              </a:rPr>
              <a:t>04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257" y="457580"/>
            <a:ext cx="415099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5">
                <a:solidFill>
                  <a:srgbClr val="181313"/>
                </a:solidFill>
                <a:latin typeface="Arial Black"/>
                <a:cs typeface="Arial Black"/>
              </a:rPr>
              <a:t>Dashboard</a:t>
            </a:r>
            <a:r>
              <a:rPr dirty="0" spc="-33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80">
                <a:solidFill>
                  <a:srgbClr val="181313"/>
                </a:solidFill>
                <a:latin typeface="Arial Black"/>
                <a:cs typeface="Arial Black"/>
              </a:rPr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31980" y="3679471"/>
            <a:ext cx="43815" cy="210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60"/>
              </a:lnSpc>
            </a:pP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6257" y="1183322"/>
            <a:ext cx="7330440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The</a:t>
            </a:r>
            <a:r>
              <a:rPr dirty="0" sz="1250" spc="18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dashboard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offers</a:t>
            </a:r>
            <a:r>
              <a:rPr dirty="0" sz="1250" spc="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intuitive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interface</a:t>
            </a:r>
            <a:r>
              <a:rPr dirty="0" sz="1250" spc="9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with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dynamic</a:t>
            </a:r>
            <a:r>
              <a:rPr dirty="0" sz="1250" spc="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filters,</a:t>
            </a:r>
            <a:r>
              <a:rPr dirty="0" sz="1250" spc="17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letting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users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explore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the</a:t>
            </a:r>
            <a:r>
              <a:rPr dirty="0" sz="1250" spc="9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dataset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interactively.</a:t>
            </a:r>
            <a:endParaRPr sz="1250">
              <a:latin typeface="Calibri"/>
              <a:cs typeface="Calibri"/>
            </a:endParaRPr>
          </a:p>
          <a:p>
            <a:pPr marL="268605" marR="2730500">
              <a:lnSpc>
                <a:spcPct val="293600"/>
              </a:lnSpc>
              <a:spcBef>
                <a:spcPts val="555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preview</a:t>
            </a:r>
            <a:r>
              <a:rPr dirty="0" sz="13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displays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raw</a:t>
            </a:r>
            <a:r>
              <a:rPr dirty="0" sz="135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</a:t>
            </a:r>
            <a:r>
              <a:rPr dirty="0" sz="135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artist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records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instantly.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Sidebar</a:t>
            </a:r>
            <a:r>
              <a:rPr dirty="0" sz="13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filters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allow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selection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by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release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year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artist.</a:t>
            </a:r>
            <a:endParaRPr sz="1350">
              <a:latin typeface="Calibri"/>
              <a:cs typeface="Calibri"/>
            </a:endParaRPr>
          </a:p>
          <a:p>
            <a:pPr marL="268605" marR="2922270">
              <a:lnSpc>
                <a:spcPct val="2938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Fully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interactive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charts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respond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instantly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filter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changes.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Clean,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responsive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interface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designed</a:t>
            </a:r>
            <a:r>
              <a:rPr dirty="0" sz="13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smooth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navigation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Dynamic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analysis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updates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every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visual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as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filters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change.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3950" y="2895600"/>
            <a:ext cx="72580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25">
                <a:solidFill>
                  <a:srgbClr val="181313"/>
                </a:solidFill>
                <a:latin typeface="Arial Black"/>
                <a:cs typeface="Arial Black"/>
              </a:rPr>
              <a:t>KPI</a:t>
            </a:r>
            <a:r>
              <a:rPr dirty="0" spc="-36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45">
                <a:solidFill>
                  <a:srgbClr val="181313"/>
                </a:solidFill>
                <a:latin typeface="Arial Black"/>
                <a:cs typeface="Arial Black"/>
              </a:rPr>
              <a:t>Dashboard</a:t>
            </a:r>
            <a:r>
              <a:rPr dirty="0" spc="-40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270">
                <a:solidFill>
                  <a:srgbClr val="181313"/>
                </a:solidFill>
                <a:latin typeface="Arial Black"/>
                <a:cs typeface="Arial Black"/>
              </a:rPr>
              <a:t>&amp;</a:t>
            </a:r>
            <a:r>
              <a:rPr dirty="0" spc="-29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130">
                <a:solidFill>
                  <a:srgbClr val="181313"/>
                </a:solidFill>
                <a:latin typeface="Arial Black"/>
                <a:cs typeface="Arial Black"/>
              </a:rPr>
              <a:t>Trend</a:t>
            </a:r>
            <a:r>
              <a:rPr dirty="0" spc="-31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45">
                <a:solidFill>
                  <a:srgbClr val="181313"/>
                </a:solidFill>
                <a:latin typeface="Arial Black"/>
                <a:cs typeface="Arial Black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Key</a:t>
            </a:r>
            <a:r>
              <a:rPr dirty="0" spc="150"/>
              <a:t> </a:t>
            </a:r>
            <a:r>
              <a:rPr dirty="0"/>
              <a:t>indicators</a:t>
            </a:r>
            <a:r>
              <a:rPr dirty="0" spc="45"/>
              <a:t> </a:t>
            </a:r>
            <a:r>
              <a:rPr dirty="0"/>
              <a:t>summarize</a:t>
            </a:r>
            <a:r>
              <a:rPr dirty="0" spc="95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dataset</a:t>
            </a:r>
            <a:r>
              <a:rPr dirty="0" spc="135"/>
              <a:t> </a:t>
            </a:r>
            <a:r>
              <a:rPr dirty="0"/>
              <a:t>at</a:t>
            </a:r>
            <a:r>
              <a:rPr dirty="0" spc="40"/>
              <a:t> </a:t>
            </a:r>
            <a:r>
              <a:rPr dirty="0"/>
              <a:t>a</a:t>
            </a:r>
            <a:r>
              <a:rPr dirty="0" spc="135"/>
              <a:t> </a:t>
            </a:r>
            <a:r>
              <a:rPr dirty="0"/>
              <a:t>glance,</a:t>
            </a:r>
            <a:r>
              <a:rPr dirty="0" spc="185"/>
              <a:t> </a:t>
            </a:r>
            <a:r>
              <a:rPr dirty="0"/>
              <a:t>while</a:t>
            </a:r>
            <a:r>
              <a:rPr dirty="0" spc="95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trend</a:t>
            </a:r>
            <a:r>
              <a:rPr dirty="0" spc="135"/>
              <a:t> </a:t>
            </a:r>
            <a:r>
              <a:rPr dirty="0"/>
              <a:t>chart</a:t>
            </a:r>
            <a:r>
              <a:rPr dirty="0" spc="140"/>
              <a:t> </a:t>
            </a:r>
            <a:r>
              <a:rPr dirty="0"/>
              <a:t>reveals</a:t>
            </a:r>
            <a:r>
              <a:rPr dirty="0" spc="45"/>
              <a:t> </a:t>
            </a:r>
            <a:r>
              <a:rPr dirty="0"/>
              <a:t>how</a:t>
            </a:r>
            <a:r>
              <a:rPr dirty="0" spc="95"/>
              <a:t> </a:t>
            </a:r>
            <a:r>
              <a:rPr dirty="0"/>
              <a:t>popularity</a:t>
            </a:r>
            <a:r>
              <a:rPr dirty="0" spc="150"/>
              <a:t> </a:t>
            </a:r>
            <a:r>
              <a:rPr dirty="0"/>
              <a:t>evolved</a:t>
            </a:r>
            <a:r>
              <a:rPr dirty="0" spc="40"/>
              <a:t> </a:t>
            </a:r>
            <a:r>
              <a:rPr dirty="0"/>
              <a:t>over</a:t>
            </a:r>
            <a:r>
              <a:rPr dirty="0" spc="125"/>
              <a:t> </a:t>
            </a:r>
            <a:r>
              <a:rPr dirty="0" spc="-10"/>
              <a:t>time.</a:t>
            </a:r>
          </a:p>
          <a:p>
            <a:pPr marL="268605" marR="3436620">
              <a:lnSpc>
                <a:spcPct val="293600"/>
              </a:lnSpc>
              <a:spcBef>
                <a:spcPts val="555"/>
              </a:spcBef>
            </a:pP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KPI</a:t>
            </a:r>
            <a:r>
              <a:rPr dirty="0" sz="1350" spc="-7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cards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show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total</a:t>
            </a:r>
            <a:r>
              <a:rPr dirty="0" sz="1350" spc="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songs,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artists,</a:t>
            </a:r>
            <a:r>
              <a:rPr dirty="0" sz="1350" spc="-6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average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metrics.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includes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35,200</a:t>
            </a:r>
            <a:r>
              <a:rPr dirty="0" sz="1350" spc="-5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total</a:t>
            </a:r>
            <a:r>
              <a:rPr dirty="0" sz="1350" spc="1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songs</a:t>
            </a:r>
            <a:r>
              <a:rPr dirty="0" sz="1350" spc="-5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9,202</a:t>
            </a:r>
            <a:r>
              <a:rPr dirty="0" sz="1350" spc="-5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artists.</a:t>
            </a:r>
            <a:endParaRPr sz="1350">
              <a:latin typeface="Calibri"/>
              <a:cs typeface="Calibri"/>
            </a:endParaRPr>
          </a:p>
          <a:p>
            <a:pPr marL="268605" marR="3521710">
              <a:lnSpc>
                <a:spcPct val="293800"/>
              </a:lnSpc>
            </a:pP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Average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song</a:t>
            </a:r>
            <a:r>
              <a:rPr dirty="0" sz="1350" spc="-5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score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stands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at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37.0</a:t>
            </a:r>
            <a:r>
              <a:rPr dirty="0" sz="1350" spc="-3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overall. Average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danceability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across</a:t>
            </a:r>
            <a:r>
              <a:rPr dirty="0" sz="1350" spc="-3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all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tracks</a:t>
            </a:r>
            <a:r>
              <a:rPr dirty="0" sz="1350" spc="-3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measures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0.55.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rises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sharply</a:t>
            </a:r>
            <a:r>
              <a:rPr dirty="0" sz="1350" spc="-3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dirty="0" sz="1350" spc="-5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1950s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1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dirty="0" sz="1350" spc="-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present.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3925" y="1390650"/>
            <a:ext cx="7191375" cy="4391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>
                <a:solidFill>
                  <a:srgbClr val="181313"/>
                </a:solidFill>
                <a:latin typeface="Arial Black"/>
                <a:cs typeface="Arial Black"/>
              </a:rPr>
              <a:t>Popularity</a:t>
            </a:r>
            <a:r>
              <a:rPr dirty="0" spc="-26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65">
                <a:solidFill>
                  <a:srgbClr val="181313"/>
                </a:solidFill>
                <a:latin typeface="Arial Black"/>
                <a:cs typeface="Arial Black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Ranking</a:t>
            </a:r>
            <a:r>
              <a:rPr dirty="0" spc="135"/>
              <a:t> </a:t>
            </a:r>
            <a:r>
              <a:rPr dirty="0"/>
              <a:t>and</a:t>
            </a:r>
            <a:r>
              <a:rPr dirty="0" spc="135"/>
              <a:t> </a:t>
            </a:r>
            <a:r>
              <a:rPr dirty="0"/>
              <a:t>distribution</a:t>
            </a:r>
            <a:r>
              <a:rPr dirty="0" spc="135"/>
              <a:t> </a:t>
            </a:r>
            <a:r>
              <a:rPr dirty="0"/>
              <a:t>charts</a:t>
            </a:r>
            <a:r>
              <a:rPr dirty="0" spc="150"/>
              <a:t> </a:t>
            </a:r>
            <a:r>
              <a:rPr dirty="0"/>
              <a:t>reveal</a:t>
            </a:r>
            <a:r>
              <a:rPr dirty="0" spc="114"/>
              <a:t> </a:t>
            </a:r>
            <a:r>
              <a:rPr dirty="0"/>
              <a:t>which</a:t>
            </a:r>
            <a:r>
              <a:rPr dirty="0" spc="135"/>
              <a:t> </a:t>
            </a:r>
            <a:r>
              <a:rPr dirty="0"/>
              <a:t>songs</a:t>
            </a:r>
            <a:r>
              <a:rPr dirty="0" spc="150"/>
              <a:t> </a:t>
            </a:r>
            <a:r>
              <a:rPr dirty="0"/>
              <a:t>perform</a:t>
            </a:r>
            <a:r>
              <a:rPr dirty="0" spc="65"/>
              <a:t> </a:t>
            </a:r>
            <a:r>
              <a:rPr dirty="0"/>
              <a:t>best</a:t>
            </a:r>
            <a:r>
              <a:rPr dirty="0" spc="135"/>
              <a:t> </a:t>
            </a:r>
            <a:r>
              <a:rPr dirty="0"/>
              <a:t>and</a:t>
            </a:r>
            <a:r>
              <a:rPr dirty="0" spc="40"/>
              <a:t> </a:t>
            </a:r>
            <a:r>
              <a:rPr dirty="0"/>
              <a:t>how</a:t>
            </a:r>
            <a:r>
              <a:rPr dirty="0" spc="95"/>
              <a:t> </a:t>
            </a:r>
            <a:r>
              <a:rPr dirty="0"/>
              <a:t>popularity</a:t>
            </a:r>
            <a:r>
              <a:rPr dirty="0" spc="150"/>
              <a:t> </a:t>
            </a:r>
            <a:r>
              <a:rPr dirty="0"/>
              <a:t>scores</a:t>
            </a:r>
            <a:r>
              <a:rPr dirty="0" spc="145"/>
              <a:t> </a:t>
            </a:r>
            <a:r>
              <a:rPr dirty="0"/>
              <a:t>spread</a:t>
            </a:r>
            <a:r>
              <a:rPr dirty="0" spc="140"/>
              <a:t> </a:t>
            </a:r>
            <a:r>
              <a:rPr dirty="0"/>
              <a:t>across</a:t>
            </a:r>
            <a:r>
              <a:rPr dirty="0" spc="40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 spc="-10"/>
              <a:t>dataset.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40"/>
              </a:spcBef>
            </a:pPr>
          </a:p>
          <a:p>
            <a:pPr marL="268605">
              <a:lnSpc>
                <a:spcPct val="100000"/>
              </a:lnSpc>
            </a:pP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Top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10</a:t>
            </a:r>
            <a:r>
              <a:rPr dirty="0" sz="1350" spc="1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chart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ranks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most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popular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songs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by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score.</a:t>
            </a:r>
            <a:endParaRPr sz="1350">
              <a:latin typeface="Calibri"/>
              <a:cs typeface="Calibri"/>
            </a:endParaRPr>
          </a:p>
          <a:p>
            <a:pPr marL="268605" marR="3541395">
              <a:lnSpc>
                <a:spcPts val="4760"/>
              </a:lnSpc>
              <a:spcBef>
                <a:spcPts val="680"/>
              </a:spcBef>
            </a:pP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“Love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Yourself”</a:t>
            </a:r>
            <a:r>
              <a:rPr dirty="0" sz="1350" spc="-6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“Sorry”</a:t>
            </a:r>
            <a:r>
              <a:rPr dirty="0" sz="1350" spc="-6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lead</a:t>
            </a:r>
            <a:r>
              <a:rPr dirty="0" sz="1350" spc="-5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as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top</a:t>
            </a:r>
            <a:r>
              <a:rPr dirty="0" sz="1350" spc="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popular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tracks. Histogram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displays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the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overall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spread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scores.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Most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songs</a:t>
            </a:r>
            <a:r>
              <a:rPr dirty="0" sz="1350" spc="-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cluster</a:t>
            </a:r>
            <a:r>
              <a:rPr dirty="0" sz="1350" spc="-4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within</a:t>
            </a:r>
            <a:r>
              <a:rPr dirty="0" sz="1350" spc="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350" spc="-7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moderate</a:t>
            </a:r>
            <a:r>
              <a:rPr dirty="0" sz="1350" spc="-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3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range.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3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Visual</a:t>
            </a:r>
            <a:r>
              <a:rPr dirty="0" sz="1350" spc="-3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ranking</a:t>
            </a:r>
            <a:r>
              <a:rPr dirty="0" sz="1350" spc="-4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helps</a:t>
            </a:r>
            <a:r>
              <a:rPr dirty="0" sz="1350" spc="-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spot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standout,</a:t>
            </a:r>
            <a:r>
              <a:rPr dirty="0" sz="1350" spc="2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0" i="0">
                <a:solidFill>
                  <a:srgbClr val="2B2B2B"/>
                </a:solidFill>
                <a:latin typeface="Calibri"/>
                <a:cs typeface="Calibri"/>
              </a:rPr>
              <a:t>chart-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topping</a:t>
            </a:r>
            <a:r>
              <a:rPr dirty="0" sz="1350" spc="-50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i="0">
                <a:solidFill>
                  <a:srgbClr val="2B2B2B"/>
                </a:solidFill>
                <a:latin typeface="Calibri"/>
                <a:cs typeface="Calibri"/>
              </a:rPr>
              <a:t>tracks</a:t>
            </a:r>
            <a:r>
              <a:rPr dirty="0" sz="1350" spc="-15" i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 i="0">
                <a:solidFill>
                  <a:srgbClr val="2B2B2B"/>
                </a:solidFill>
                <a:latin typeface="Calibri"/>
                <a:cs typeface="Calibri"/>
              </a:rPr>
              <a:t>fast.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72025" y="1552575"/>
            <a:ext cx="701040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257" y="457580"/>
            <a:ext cx="4309110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>
                <a:solidFill>
                  <a:srgbClr val="181313"/>
                </a:solidFill>
                <a:latin typeface="Arial Black"/>
                <a:cs typeface="Arial Black"/>
              </a:rPr>
              <a:t>Danceability</a:t>
            </a:r>
            <a:r>
              <a:rPr dirty="0" spc="-29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55">
                <a:solidFill>
                  <a:srgbClr val="181313"/>
                </a:solidFill>
                <a:latin typeface="Arial Black"/>
                <a:cs typeface="Arial Black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6257" y="1183322"/>
            <a:ext cx="6550659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This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scatter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plot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explores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whether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more</a:t>
            </a:r>
            <a:r>
              <a:rPr dirty="0" sz="1250" spc="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danceable</a:t>
            </a:r>
            <a:r>
              <a:rPr dirty="0" sz="1250" spc="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songs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tend</a:t>
            </a:r>
            <a:r>
              <a:rPr dirty="0" sz="1250" spc="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to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achieve</a:t>
            </a:r>
            <a:r>
              <a:rPr dirty="0" sz="1250" spc="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higher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popularity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scores.</a:t>
            </a:r>
            <a:endParaRPr sz="1250">
              <a:latin typeface="Calibri"/>
              <a:cs typeface="Calibri"/>
            </a:endParaRPr>
          </a:p>
          <a:p>
            <a:pPr marL="268605" marR="1764664">
              <a:lnSpc>
                <a:spcPct val="293700"/>
              </a:lnSpc>
              <a:spcBef>
                <a:spcPts val="555"/>
              </a:spcBef>
            </a:pP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Scatter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plot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compares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danceability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against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popularity.</a:t>
            </a:r>
            <a:r>
              <a:rPr dirty="0" sz="1350" spc="50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Color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encodes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energy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level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350" spc="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deeper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multi-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feature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comparison. Correlation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between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danceability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appears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weak.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Energy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adds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useful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context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danceability's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role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</a:t>
            </a:r>
            <a:r>
              <a:rPr dirty="0" sz="1350" spc="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scoring.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3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Users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can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explore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individual</a:t>
            </a:r>
            <a:r>
              <a:rPr dirty="0" sz="1350" spc="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points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interactively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details.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8275" y="1771650"/>
            <a:ext cx="653415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>
                <a:solidFill>
                  <a:srgbClr val="181313"/>
                </a:solidFill>
                <a:latin typeface="Arial Black"/>
                <a:cs typeface="Arial Black"/>
              </a:rPr>
              <a:t>Correlation</a:t>
            </a:r>
            <a:r>
              <a:rPr dirty="0" spc="-34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55">
                <a:solidFill>
                  <a:srgbClr val="181313"/>
                </a:solidFill>
                <a:latin typeface="Arial Black"/>
                <a:cs typeface="Arial Black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6257" y="1183322"/>
            <a:ext cx="815276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The</a:t>
            </a:r>
            <a:r>
              <a:rPr dirty="0" sz="1250" spc="1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heatmap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visualizes</a:t>
            </a:r>
            <a:r>
              <a:rPr dirty="0" sz="1250" spc="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relationships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between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audio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features,</a:t>
            </a:r>
            <a:r>
              <a:rPr dirty="0" sz="1250" spc="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showing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which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factors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move</a:t>
            </a:r>
            <a:r>
              <a:rPr dirty="0" sz="1250" spc="10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together</a:t>
            </a:r>
            <a:r>
              <a:rPr dirty="0" sz="1250" spc="12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or</a:t>
            </a:r>
            <a:r>
              <a:rPr dirty="0" sz="1250" spc="12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oppose</a:t>
            </a:r>
            <a:r>
              <a:rPr dirty="0" sz="1250" spc="10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each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other.</a:t>
            </a:r>
            <a:endParaRPr sz="1250">
              <a:latin typeface="Calibri"/>
              <a:cs typeface="Calibri"/>
            </a:endParaRPr>
          </a:p>
          <a:p>
            <a:pPr marL="268605" marR="3695065">
              <a:lnSpc>
                <a:spcPct val="293600"/>
              </a:lnSpc>
              <a:spcBef>
                <a:spcPts val="555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Acousticness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shows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strongest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positive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link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popularity.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Energy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correlates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negatively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popularity,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at</a:t>
            </a:r>
            <a:r>
              <a:rPr dirty="0" sz="1350" spc="-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-0.46.</a:t>
            </a:r>
            <a:endParaRPr sz="1350">
              <a:latin typeface="Calibri"/>
              <a:cs typeface="Calibri"/>
            </a:endParaRPr>
          </a:p>
          <a:p>
            <a:pPr marL="268605" marR="3768725">
              <a:lnSpc>
                <a:spcPct val="2937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Energy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acousticness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show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35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strong</a:t>
            </a:r>
            <a:r>
              <a:rPr dirty="0" sz="135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negative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link,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-0.83.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Speechiness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also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shows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350" spc="-7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moderate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positive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correlation.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35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Heatmap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guides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feature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selection</a:t>
            </a:r>
            <a:r>
              <a:rPr dirty="0" sz="135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deeper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analysis.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10150" y="1866900"/>
            <a:ext cx="7000875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257" y="457580"/>
            <a:ext cx="243141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75">
                <a:solidFill>
                  <a:srgbClr val="181313"/>
                </a:solidFill>
                <a:latin typeface="Arial Black"/>
                <a:cs typeface="Arial Black"/>
              </a:rPr>
              <a:t>Key</a:t>
            </a:r>
            <a:r>
              <a:rPr dirty="0" spc="-40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80">
                <a:solidFill>
                  <a:srgbClr val="181313"/>
                </a:solidFill>
                <a:latin typeface="Arial Black"/>
                <a:cs typeface="Arial Black"/>
              </a:rPr>
              <a:t>Insights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00250"/>
            <a:ext cx="95250" cy="104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98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209925"/>
            <a:ext cx="95250" cy="104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81000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419600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6257" y="1183322"/>
            <a:ext cx="7119620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Analysis</a:t>
            </a:r>
            <a:r>
              <a:rPr dirty="0" sz="1250" spc="16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of</a:t>
            </a:r>
            <a:r>
              <a:rPr dirty="0" sz="1250" spc="10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the</a:t>
            </a:r>
            <a:r>
              <a:rPr dirty="0" sz="1250" spc="114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dashboard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reveals</a:t>
            </a:r>
            <a:r>
              <a:rPr dirty="0" sz="1250" spc="5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meaningful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patterns</a:t>
            </a:r>
            <a:r>
              <a:rPr dirty="0" sz="1250" spc="17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in</a:t>
            </a:r>
            <a:r>
              <a:rPr dirty="0" sz="1250" spc="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music</a:t>
            </a:r>
            <a:r>
              <a:rPr dirty="0" sz="1250" spc="12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popularity</a:t>
            </a:r>
            <a:r>
              <a:rPr dirty="0" sz="1250" spc="16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and</a:t>
            </a:r>
            <a:r>
              <a:rPr dirty="0" sz="1250" spc="1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audio</a:t>
            </a:r>
            <a:r>
              <a:rPr dirty="0" sz="1250" spc="5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feature</a:t>
            </a:r>
            <a:r>
              <a:rPr dirty="0" sz="1250" spc="21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relationships.</a:t>
            </a:r>
            <a:endParaRPr sz="1250">
              <a:latin typeface="Calibri"/>
              <a:cs typeface="Calibri"/>
            </a:endParaRPr>
          </a:p>
          <a:p>
            <a:pPr marL="268605" marR="2459355">
              <a:lnSpc>
                <a:spcPct val="293600"/>
              </a:lnSpc>
              <a:spcBef>
                <a:spcPts val="555"/>
              </a:spcBef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Song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has</a:t>
            </a:r>
            <a:r>
              <a:rPr dirty="0" sz="135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grown</a:t>
            </a:r>
            <a:r>
              <a:rPr dirty="0" sz="1350" spc="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steadily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since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mid-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20th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century.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Acousticness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 speechiness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relate</a:t>
            </a:r>
            <a:r>
              <a:rPr dirty="0" sz="135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positively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popularity.</a:t>
            </a:r>
            <a:endParaRPr sz="1350">
              <a:latin typeface="Calibri"/>
              <a:cs typeface="Calibri"/>
            </a:endParaRPr>
          </a:p>
          <a:p>
            <a:pPr marL="268605" marR="2701290">
              <a:lnSpc>
                <a:spcPct val="293800"/>
              </a:lnSpc>
            </a:pP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Energy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shows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surprising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negative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link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with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popularity.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Artist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35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year</a:t>
            </a:r>
            <a:r>
              <a:rPr dirty="0" sz="1350" spc="-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filters</a:t>
            </a:r>
            <a:r>
              <a:rPr dirty="0" sz="135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enable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focused,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comparative</a:t>
            </a:r>
            <a:r>
              <a:rPr dirty="0" sz="135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analysis. Dashboard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makes</a:t>
            </a:r>
            <a:r>
              <a:rPr dirty="0" sz="135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complex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audio</a:t>
            </a:r>
            <a:r>
              <a:rPr dirty="0" sz="13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data</a:t>
            </a:r>
            <a:r>
              <a:rPr dirty="0" sz="135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easy</a:t>
            </a:r>
            <a:r>
              <a:rPr dirty="0" sz="13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35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B2B2B"/>
                </a:solidFill>
                <a:latin typeface="Calibri"/>
                <a:cs typeface="Calibri"/>
              </a:rPr>
              <a:t>interpret.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>
                <a:solidFill>
                  <a:srgbClr val="181313"/>
                </a:solidFill>
                <a:latin typeface="Arial Black"/>
                <a:cs typeface="Arial Black"/>
              </a:rPr>
              <a:t>Advantages,</a:t>
            </a:r>
            <a:r>
              <a:rPr dirty="0" spc="-315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120">
                <a:solidFill>
                  <a:srgbClr val="181313"/>
                </a:solidFill>
                <a:latin typeface="Arial Black"/>
                <a:cs typeface="Arial Black"/>
              </a:rPr>
              <a:t>Limitations</a:t>
            </a:r>
            <a:r>
              <a:rPr dirty="0" spc="-29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270">
                <a:solidFill>
                  <a:srgbClr val="181313"/>
                </a:solidFill>
                <a:latin typeface="Arial Black"/>
                <a:cs typeface="Arial Black"/>
              </a:rPr>
              <a:t>&amp; </a:t>
            </a:r>
            <a:r>
              <a:rPr dirty="0" spc="-120">
                <a:solidFill>
                  <a:srgbClr val="181313"/>
                </a:solidFill>
                <a:latin typeface="Arial Black"/>
                <a:cs typeface="Arial Black"/>
              </a:rPr>
              <a:t>Future</a:t>
            </a:r>
            <a:r>
              <a:rPr dirty="0" spc="-33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pc="-95">
                <a:solidFill>
                  <a:srgbClr val="181313"/>
                </a:solidFill>
                <a:latin typeface="Arial Black"/>
                <a:cs typeface="Arial Black"/>
              </a:rPr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1183322"/>
            <a:ext cx="7379334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The</a:t>
            </a:r>
            <a:r>
              <a:rPr dirty="0" sz="1250" spc="18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dashboard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delivers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strong</a:t>
            </a:r>
            <a:r>
              <a:rPr dirty="0" sz="1250" spc="13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usability</a:t>
            </a:r>
            <a:r>
              <a:rPr dirty="0" sz="1250" spc="14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today,</a:t>
            </a:r>
            <a:r>
              <a:rPr dirty="0" sz="1250" spc="8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with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clear</a:t>
            </a:r>
            <a:r>
              <a:rPr dirty="0" sz="1250" spc="12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opportunities</a:t>
            </a:r>
            <a:r>
              <a:rPr dirty="0" sz="1250" spc="14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for</a:t>
            </a:r>
            <a:r>
              <a:rPr dirty="0" sz="1250" spc="114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future</a:t>
            </a:r>
            <a:r>
              <a:rPr dirty="0" sz="1250" spc="95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enhancement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A6A6A"/>
                </a:solidFill>
                <a:latin typeface="Calibri"/>
                <a:cs typeface="Calibri"/>
              </a:rPr>
              <a:t>and</a:t>
            </a:r>
            <a:r>
              <a:rPr dirty="0" sz="1250" spc="130" i="1">
                <a:solidFill>
                  <a:srgbClr val="6A6A6A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6A6A"/>
                </a:solidFill>
                <a:latin typeface="Calibri"/>
                <a:cs typeface="Calibri"/>
              </a:rPr>
              <a:t>expansion.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2450" y="1962150"/>
            <a:ext cx="3609975" cy="4162425"/>
            <a:chOff x="552450" y="1962150"/>
            <a:chExt cx="3609975" cy="4162425"/>
          </a:xfrm>
        </p:grpSpPr>
        <p:sp>
          <p:nvSpPr>
            <p:cNvPr id="5" name="object 5"/>
            <p:cNvSpPr/>
            <p:nvPr/>
          </p:nvSpPr>
          <p:spPr>
            <a:xfrm>
              <a:off x="552450" y="1962150"/>
              <a:ext cx="3609975" cy="4162425"/>
            </a:xfrm>
            <a:custGeom>
              <a:avLst/>
              <a:gdLst/>
              <a:ahLst/>
              <a:cxnLst/>
              <a:rect l="l" t="t" r="r" b="b"/>
              <a:pathLst>
                <a:path w="3609975" h="4162425">
                  <a:moveTo>
                    <a:pt x="3500247" y="0"/>
                  </a:moveTo>
                  <a:lnTo>
                    <a:pt x="109664" y="0"/>
                  </a:lnTo>
                  <a:lnTo>
                    <a:pt x="66978" y="8626"/>
                  </a:lnTo>
                  <a:lnTo>
                    <a:pt x="32119" y="32146"/>
                  </a:lnTo>
                  <a:lnTo>
                    <a:pt x="8617" y="67026"/>
                  </a:lnTo>
                  <a:lnTo>
                    <a:pt x="0" y="109727"/>
                  </a:lnTo>
                  <a:lnTo>
                    <a:pt x="0" y="4052760"/>
                  </a:lnTo>
                  <a:lnTo>
                    <a:pt x="8617" y="4095446"/>
                  </a:lnTo>
                  <a:lnTo>
                    <a:pt x="32119" y="4130305"/>
                  </a:lnTo>
                  <a:lnTo>
                    <a:pt x="66978" y="4153807"/>
                  </a:lnTo>
                  <a:lnTo>
                    <a:pt x="109664" y="4162425"/>
                  </a:lnTo>
                  <a:lnTo>
                    <a:pt x="3500247" y="4162425"/>
                  </a:lnTo>
                  <a:lnTo>
                    <a:pt x="3542948" y="4153807"/>
                  </a:lnTo>
                  <a:lnTo>
                    <a:pt x="3577828" y="4130305"/>
                  </a:lnTo>
                  <a:lnTo>
                    <a:pt x="3601348" y="4095446"/>
                  </a:lnTo>
                  <a:lnTo>
                    <a:pt x="3609975" y="4052760"/>
                  </a:lnTo>
                  <a:lnTo>
                    <a:pt x="3609975" y="109727"/>
                  </a:lnTo>
                  <a:lnTo>
                    <a:pt x="3601348" y="67026"/>
                  </a:lnTo>
                  <a:lnTo>
                    <a:pt x="3577828" y="32146"/>
                  </a:lnTo>
                  <a:lnTo>
                    <a:pt x="3542948" y="8626"/>
                  </a:lnTo>
                  <a:lnTo>
                    <a:pt x="350024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6775" y="2286000"/>
              <a:ext cx="200025" cy="2000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76972" y="2252662"/>
            <a:ext cx="12268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181313"/>
                </a:solidFill>
                <a:latin typeface="Arial Black"/>
                <a:cs typeface="Arial Black"/>
              </a:rPr>
              <a:t>Advantages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6775" y="2962275"/>
            <a:ext cx="104775" cy="2371725"/>
            <a:chOff x="866775" y="2962275"/>
            <a:chExt cx="104775" cy="23717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2962275"/>
              <a:ext cx="104775" cy="104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3533775"/>
              <a:ext cx="104775" cy="95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775" y="4095750"/>
              <a:ext cx="104775" cy="1047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4667250"/>
              <a:ext cx="104775" cy="952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775" y="5229225"/>
              <a:ext cx="104775" cy="1047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12837" y="2807017"/>
            <a:ext cx="174243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Fully</a:t>
            </a:r>
            <a:r>
              <a:rPr dirty="0" sz="120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interactive</a:t>
            </a:r>
            <a:r>
              <a:rPr dirty="0" sz="1200" spc="-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exploration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2837" y="3374707"/>
            <a:ext cx="18427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Fast,</a:t>
            </a:r>
            <a:r>
              <a:rPr dirty="0" sz="120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responsive</a:t>
            </a:r>
            <a:r>
              <a:rPr dirty="0" sz="120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performance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2837" y="3942397"/>
            <a:ext cx="14331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Simple</a:t>
            </a:r>
            <a:r>
              <a:rPr dirty="0" sz="120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dirty="0" sz="120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easy</a:t>
            </a:r>
            <a:r>
              <a:rPr dirty="0" sz="120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20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B2B2B"/>
                </a:solidFill>
                <a:latin typeface="Calibri"/>
                <a:cs typeface="Calibri"/>
              </a:rPr>
              <a:t>use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2837" y="4510087"/>
            <a:ext cx="18992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Professional</a:t>
            </a:r>
            <a:r>
              <a:rPr dirty="0" sz="1200" spc="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visualization</a:t>
            </a:r>
            <a:r>
              <a:rPr dirty="0" sz="120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style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2837" y="5077777"/>
            <a:ext cx="15506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Clear,</a:t>
            </a:r>
            <a:r>
              <a:rPr dirty="0" sz="120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actionable</a:t>
            </a:r>
            <a:r>
              <a:rPr dirty="0" sz="1200" spc="-5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insights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19600" y="1962150"/>
            <a:ext cx="3609975" cy="4162425"/>
            <a:chOff x="4419600" y="1962150"/>
            <a:chExt cx="3609975" cy="4162425"/>
          </a:xfrm>
        </p:grpSpPr>
        <p:sp>
          <p:nvSpPr>
            <p:cNvPr id="20" name="object 20"/>
            <p:cNvSpPr/>
            <p:nvPr/>
          </p:nvSpPr>
          <p:spPr>
            <a:xfrm>
              <a:off x="4419600" y="1962150"/>
              <a:ext cx="3609975" cy="4162425"/>
            </a:xfrm>
            <a:custGeom>
              <a:avLst/>
              <a:gdLst/>
              <a:ahLst/>
              <a:cxnLst/>
              <a:rect l="l" t="t" r="r" b="b"/>
              <a:pathLst>
                <a:path w="3609975" h="4162425">
                  <a:moveTo>
                    <a:pt x="3500247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4052760"/>
                  </a:lnTo>
                  <a:lnTo>
                    <a:pt x="8626" y="4095446"/>
                  </a:lnTo>
                  <a:lnTo>
                    <a:pt x="32146" y="4130305"/>
                  </a:lnTo>
                  <a:lnTo>
                    <a:pt x="67026" y="4153807"/>
                  </a:lnTo>
                  <a:lnTo>
                    <a:pt x="109727" y="4162425"/>
                  </a:lnTo>
                  <a:lnTo>
                    <a:pt x="3500247" y="4162425"/>
                  </a:lnTo>
                  <a:lnTo>
                    <a:pt x="3542948" y="4153807"/>
                  </a:lnTo>
                  <a:lnTo>
                    <a:pt x="3577828" y="4130305"/>
                  </a:lnTo>
                  <a:lnTo>
                    <a:pt x="3601348" y="4095446"/>
                  </a:lnTo>
                  <a:lnTo>
                    <a:pt x="3609975" y="4052760"/>
                  </a:lnTo>
                  <a:lnTo>
                    <a:pt x="3609975" y="109727"/>
                  </a:lnTo>
                  <a:lnTo>
                    <a:pt x="3601348" y="67026"/>
                  </a:lnTo>
                  <a:lnTo>
                    <a:pt x="3577828" y="32146"/>
                  </a:lnTo>
                  <a:lnTo>
                    <a:pt x="3542948" y="8626"/>
                  </a:lnTo>
                  <a:lnTo>
                    <a:pt x="350024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3925" y="2286000"/>
              <a:ext cx="200025" cy="20002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47996" y="2252662"/>
            <a:ext cx="11220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>
                <a:solidFill>
                  <a:srgbClr val="181313"/>
                </a:solidFill>
                <a:latin typeface="Arial Black"/>
                <a:cs typeface="Arial Black"/>
              </a:rPr>
              <a:t>Limitations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33925" y="2962275"/>
            <a:ext cx="104775" cy="1238250"/>
            <a:chOff x="4733925" y="2962275"/>
            <a:chExt cx="104775" cy="1238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3925" y="2962275"/>
              <a:ext cx="104775" cy="1047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3925" y="3533775"/>
              <a:ext cx="104775" cy="952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3925" y="4095750"/>
              <a:ext cx="104775" cy="10477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983860" y="2807017"/>
            <a:ext cx="12852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Uses</a:t>
            </a:r>
            <a:r>
              <a:rPr dirty="0" sz="120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a</a:t>
            </a:r>
            <a:r>
              <a:rPr dirty="0" sz="120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static</a:t>
            </a:r>
            <a:r>
              <a:rPr dirty="0" sz="120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dataset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83860" y="3374707"/>
            <a:ext cx="15887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No</a:t>
            </a:r>
            <a:r>
              <a:rPr dirty="0" sz="1200" spc="4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live</a:t>
            </a:r>
            <a:r>
              <a:rPr dirty="0" sz="120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Spotify</a:t>
            </a:r>
            <a:r>
              <a:rPr dirty="0" sz="1200" spc="-7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API</a:t>
            </a:r>
            <a:r>
              <a:rPr dirty="0" sz="1200" spc="1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access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83860" y="3942397"/>
            <a:ext cx="17125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Limited</a:t>
            </a:r>
            <a:r>
              <a:rPr dirty="0" sz="1200" spc="-2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dirty="0" sz="1200" spc="-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given</a:t>
            </a:r>
            <a:r>
              <a:rPr dirty="0" sz="1200" spc="-20">
                <a:solidFill>
                  <a:srgbClr val="2B2B2B"/>
                </a:solidFill>
                <a:latin typeface="Calibri"/>
                <a:cs typeface="Calibri"/>
              </a:rPr>
              <a:t> feature</a:t>
            </a:r>
            <a:r>
              <a:rPr dirty="0" sz="1200" spc="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B2B2B"/>
                </a:solidFill>
                <a:latin typeface="Calibri"/>
                <a:cs typeface="Calibri"/>
              </a:rPr>
              <a:t>set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286750" y="1962150"/>
            <a:ext cx="3609975" cy="4162425"/>
            <a:chOff x="8286750" y="1962150"/>
            <a:chExt cx="3609975" cy="4162425"/>
          </a:xfrm>
        </p:grpSpPr>
        <p:sp>
          <p:nvSpPr>
            <p:cNvPr id="31" name="object 31"/>
            <p:cNvSpPr/>
            <p:nvPr/>
          </p:nvSpPr>
          <p:spPr>
            <a:xfrm>
              <a:off x="8286750" y="1962150"/>
              <a:ext cx="3609975" cy="4162425"/>
            </a:xfrm>
            <a:custGeom>
              <a:avLst/>
              <a:gdLst/>
              <a:ahLst/>
              <a:cxnLst/>
              <a:rect l="l" t="t" r="r" b="b"/>
              <a:pathLst>
                <a:path w="3609975" h="4162425">
                  <a:moveTo>
                    <a:pt x="3500247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4052760"/>
                  </a:lnTo>
                  <a:lnTo>
                    <a:pt x="8626" y="4095446"/>
                  </a:lnTo>
                  <a:lnTo>
                    <a:pt x="32146" y="4130305"/>
                  </a:lnTo>
                  <a:lnTo>
                    <a:pt x="67026" y="4153807"/>
                  </a:lnTo>
                  <a:lnTo>
                    <a:pt x="109727" y="4162425"/>
                  </a:lnTo>
                  <a:lnTo>
                    <a:pt x="3500247" y="4162425"/>
                  </a:lnTo>
                  <a:lnTo>
                    <a:pt x="3542948" y="4153807"/>
                  </a:lnTo>
                  <a:lnTo>
                    <a:pt x="3577828" y="4130305"/>
                  </a:lnTo>
                  <a:lnTo>
                    <a:pt x="3601348" y="4095446"/>
                  </a:lnTo>
                  <a:lnTo>
                    <a:pt x="3609975" y="4052760"/>
                  </a:lnTo>
                  <a:lnTo>
                    <a:pt x="3609975" y="109727"/>
                  </a:lnTo>
                  <a:lnTo>
                    <a:pt x="3601348" y="67026"/>
                  </a:lnTo>
                  <a:lnTo>
                    <a:pt x="3577828" y="32146"/>
                  </a:lnTo>
                  <a:lnTo>
                    <a:pt x="3542948" y="8626"/>
                  </a:lnTo>
                  <a:lnTo>
                    <a:pt x="350024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01075" y="2286000"/>
              <a:ext cx="200025" cy="20002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918575" y="2252662"/>
            <a:ext cx="13081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>
                <a:solidFill>
                  <a:srgbClr val="181313"/>
                </a:solidFill>
                <a:latin typeface="Arial Black"/>
                <a:cs typeface="Arial Black"/>
              </a:rPr>
              <a:t>Future</a:t>
            </a:r>
            <a:r>
              <a:rPr dirty="0" sz="1500" spc="-190">
                <a:solidFill>
                  <a:srgbClr val="181313"/>
                </a:solidFill>
                <a:latin typeface="Arial Black"/>
                <a:cs typeface="Arial Black"/>
              </a:rPr>
              <a:t> </a:t>
            </a:r>
            <a:r>
              <a:rPr dirty="0" sz="1500" spc="-55">
                <a:solidFill>
                  <a:srgbClr val="181313"/>
                </a:solidFill>
                <a:latin typeface="Arial Black"/>
                <a:cs typeface="Arial Black"/>
              </a:rPr>
              <a:t>Scope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601075" y="2962275"/>
            <a:ext cx="104775" cy="1800225"/>
            <a:chOff x="8601075" y="2962275"/>
            <a:chExt cx="104775" cy="1800225"/>
          </a:xfrm>
        </p:grpSpPr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1075" y="2962275"/>
              <a:ext cx="104775" cy="10477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1075" y="3533775"/>
              <a:ext cx="104775" cy="9525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1075" y="4095750"/>
              <a:ext cx="104775" cy="1047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1075" y="4667250"/>
              <a:ext cx="104775" cy="9525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854820" y="2807017"/>
            <a:ext cx="18091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Machine</a:t>
            </a:r>
            <a:r>
              <a:rPr dirty="0" sz="1200" spc="-6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learning</a:t>
            </a:r>
            <a:r>
              <a:rPr dirty="0" sz="1200" spc="3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integration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54820" y="3374707"/>
            <a:ext cx="18980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Song</a:t>
            </a:r>
            <a:r>
              <a:rPr dirty="0" sz="1200" spc="-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recommendation</a:t>
            </a:r>
            <a:r>
              <a:rPr dirty="0" sz="1200" spc="-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854820" y="3942397"/>
            <a:ext cx="15728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Cloud-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based</a:t>
            </a:r>
            <a:r>
              <a:rPr dirty="0" sz="1200" spc="-2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deployment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854820" y="4510087"/>
            <a:ext cx="17564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time</a:t>
            </a:r>
            <a:r>
              <a:rPr dirty="0" sz="1200" spc="4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Spotify</a:t>
            </a:r>
            <a:r>
              <a:rPr dirty="0" sz="1200" spc="-6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B2B2B"/>
                </a:solidFill>
                <a:latin typeface="Calibri"/>
                <a:cs typeface="Calibri"/>
              </a:rPr>
              <a:t>API</a:t>
            </a:r>
            <a:r>
              <a:rPr dirty="0" sz="1200" spc="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B2B2B"/>
                </a:solidFill>
                <a:latin typeface="Calibri"/>
                <a:cs typeface="Calibri"/>
              </a:rPr>
              <a:t>access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45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1183322"/>
            <a:ext cx="697865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i="1">
                <a:latin typeface="Calibri"/>
                <a:cs typeface="Calibri"/>
              </a:rPr>
              <a:t>This</a:t>
            </a:r>
            <a:r>
              <a:rPr dirty="0" sz="1250" spc="14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project</a:t>
            </a:r>
            <a:r>
              <a:rPr dirty="0" sz="1250" spc="14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shows</a:t>
            </a:r>
            <a:r>
              <a:rPr dirty="0" sz="1250" spc="4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how</a:t>
            </a:r>
            <a:r>
              <a:rPr dirty="0" sz="1250" spc="9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interactive</a:t>
            </a:r>
            <a:r>
              <a:rPr dirty="0" sz="1250" spc="19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dashboards</a:t>
            </a:r>
            <a:r>
              <a:rPr dirty="0" sz="1250" spc="15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turn</a:t>
            </a:r>
            <a:r>
              <a:rPr dirty="0" sz="1250" spc="4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raw</a:t>
            </a:r>
            <a:r>
              <a:rPr dirty="0" sz="1250" spc="19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music</a:t>
            </a:r>
            <a:r>
              <a:rPr dirty="0" sz="1250" spc="10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data</a:t>
            </a:r>
            <a:r>
              <a:rPr dirty="0" sz="1250" spc="140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into</a:t>
            </a:r>
            <a:r>
              <a:rPr dirty="0" sz="1250" spc="13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meaningful,</a:t>
            </a:r>
            <a:r>
              <a:rPr dirty="0" sz="1250" spc="85" i="1">
                <a:latin typeface="Calibri"/>
                <a:cs typeface="Calibri"/>
              </a:rPr>
              <a:t> </a:t>
            </a:r>
            <a:r>
              <a:rPr dirty="0" sz="1250" i="1">
                <a:latin typeface="Calibri"/>
                <a:cs typeface="Calibri"/>
              </a:rPr>
              <a:t>actionable</a:t>
            </a:r>
            <a:r>
              <a:rPr dirty="0" sz="1250" spc="195" i="1">
                <a:latin typeface="Calibri"/>
                <a:cs typeface="Calibri"/>
              </a:rPr>
              <a:t> </a:t>
            </a:r>
            <a:r>
              <a:rPr dirty="0" sz="1250" spc="-10" i="1">
                <a:latin typeface="Calibri"/>
                <a:cs typeface="Calibri"/>
              </a:rPr>
              <a:t>insights.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2047875"/>
            <a:ext cx="95250" cy="1047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2600325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3143250"/>
            <a:ext cx="95250" cy="104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3695700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4238625"/>
            <a:ext cx="95250" cy="1047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2480" y="1891347"/>
            <a:ext cx="4547870" cy="242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Calibri"/>
                <a:cs typeface="Calibri"/>
              </a:rPr>
              <a:t>Built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 </a:t>
            </a:r>
            <a:r>
              <a:rPr dirty="0" sz="1350" spc="-10">
                <a:latin typeface="Calibri"/>
                <a:cs typeface="Calibri"/>
              </a:rPr>
              <a:t>interactive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Spotify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analytics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dashboard using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Python.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50">
                <a:latin typeface="Calibri"/>
                <a:cs typeface="Calibri"/>
              </a:rPr>
              <a:t>Highlighted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power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data </a:t>
            </a:r>
            <a:r>
              <a:rPr dirty="0" sz="1350" spc="-10">
                <a:latin typeface="Calibri"/>
                <a:cs typeface="Calibri"/>
              </a:rPr>
              <a:t>visualization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for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trend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discovery.</a:t>
            </a:r>
            <a:endParaRPr sz="1350">
              <a:latin typeface="Calibri"/>
              <a:cs typeface="Calibri"/>
            </a:endParaRPr>
          </a:p>
          <a:p>
            <a:pPr marL="12700" marR="5080">
              <a:lnSpc>
                <a:spcPts val="4330"/>
              </a:lnSpc>
              <a:spcBef>
                <a:spcPts val="390"/>
              </a:spcBef>
            </a:pPr>
            <a:r>
              <a:rPr dirty="0" sz="1350" spc="-10">
                <a:latin typeface="Calibri"/>
                <a:cs typeface="Calibri"/>
              </a:rPr>
              <a:t>Demonstrated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practical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benefits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dashboards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for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decisions. </a:t>
            </a:r>
            <a:r>
              <a:rPr dirty="0" sz="1350">
                <a:latin typeface="Calibri"/>
                <a:cs typeface="Calibri"/>
              </a:rPr>
              <a:t>Applicable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to music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platforms,</a:t>
            </a:r>
            <a:r>
              <a:rPr dirty="0" sz="1350" spc="-6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marketing,</a:t>
            </a:r>
            <a:r>
              <a:rPr dirty="0" sz="1350" spc="-7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and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artist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strategy. </a:t>
            </a:r>
            <a:r>
              <a:rPr dirty="0" sz="1350">
                <a:latin typeface="Calibri"/>
                <a:cs typeface="Calibri"/>
              </a:rPr>
              <a:t>Strengthened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skills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in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Python,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Streamlit,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and</a:t>
            </a:r>
            <a:r>
              <a:rPr dirty="0" sz="1350" spc="-6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Plotly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development.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2845" y="5146611"/>
            <a:ext cx="7740650" cy="675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08839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latin typeface="Calibri"/>
                <a:cs typeface="Calibri"/>
              </a:rPr>
              <a:t>REFERENCES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Spotify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Dataset</a:t>
            </a:r>
            <a:r>
              <a:rPr dirty="0" sz="1100" spc="4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·</a:t>
            </a:r>
            <a:r>
              <a:rPr dirty="0" sz="1100" spc="4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Kaggle</a:t>
            </a:r>
            <a:r>
              <a:rPr dirty="0" sz="1100" spc="4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·</a:t>
            </a:r>
            <a:r>
              <a:rPr dirty="0" sz="1100" spc="4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Python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Documentation</a:t>
            </a:r>
            <a:r>
              <a:rPr dirty="0" sz="1100" spc="4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·</a:t>
            </a:r>
            <a:r>
              <a:rPr dirty="0" sz="1100" spc="4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Pandas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Documentation</a:t>
            </a:r>
            <a:r>
              <a:rPr dirty="0" sz="1100" spc="4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·</a:t>
            </a:r>
            <a:r>
              <a:rPr dirty="0" sz="1100" spc="13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Plotly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Documentation</a:t>
            </a:r>
            <a:r>
              <a:rPr dirty="0" sz="1100" spc="4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·</a:t>
            </a:r>
            <a:r>
              <a:rPr dirty="0" sz="1100" spc="4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Streamlit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Documentation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2026-07-31T08:04:49Z</dcterms:created>
  <dcterms:modified xsi:type="dcterms:W3CDTF">2026-07-31T08:04:49Z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2026-07-31T00:00:00Z</vt:filetime>
  </property>
  <property fmtid="{D5CDD505-2E9C-101B-9397-08002B2CF9AE}" pid="4" name="LastSaved">
    <vt:filetime>2026-07-31T00:00:00Z</vt:filetime>
  </property>
</Properties>
</file>